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TT Rounds Condensed Bold" charset="1" panose="02000806030000020003"/>
      <p:regular r:id="rId28"/>
    </p:embeddedFont>
    <p:embeddedFont>
      <p:font typeface="Arial Bold" charset="1" panose="020B0802020202020204"/>
      <p:regular r:id="rId29"/>
    </p:embeddedFont>
    <p:embeddedFont>
      <p:font typeface="Archivo Black" charset="1" panose="020B0A03020202020B04"/>
      <p:regular r:id="rId30"/>
    </p:embeddedFont>
    <p:embeddedFont>
      <p:font typeface="Glacial Indifference" charset="1" panose="00000000000000000000"/>
      <p:regular r:id="rId31"/>
    </p:embeddedFont>
    <p:embeddedFont>
      <p:font typeface="Arial" charset="1" panose="020B0502020202020204"/>
      <p:regular r:id="rId32"/>
    </p:embeddedFont>
    <p:embeddedFont>
      <p:font typeface="Arimo" charset="1" panose="020B0604020202020204"/>
      <p:regular r:id="rId33"/>
    </p:embeddedFont>
    <p:embeddedFont>
      <p:font typeface="Glacial Indifference Bold Italics" charset="1" panose="00000800000000000000"/>
      <p:regular r:id="rId34"/>
    </p:embeddedFont>
    <p:embeddedFont>
      <p:font typeface="TT Rounds Condensed" charset="1" panose="02000506030000020003"/>
      <p:regular r:id="rId35"/>
    </p:embeddedFont>
    <p:embeddedFont>
      <p:font typeface="TT Rounds Condensed Bold Italics" charset="1" panose="02000806030000090003"/>
      <p:regular r:id="rId36"/>
    </p:embeddedFont>
    <p:embeddedFont>
      <p:font typeface="Bobby Jones Soft" charset="1" panose="00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svg" Type="http://schemas.openxmlformats.org/officeDocument/2006/relationships/image"/><Relationship Id="rId6"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jpeg" Type="http://schemas.openxmlformats.org/officeDocument/2006/relationships/image"/><Relationship Id="rId5" Target="../media/image1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svg" Type="http://schemas.openxmlformats.org/officeDocument/2006/relationships/image"/><Relationship Id="rId6" Target="../media/image2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7.svg" Type="http://schemas.openxmlformats.org/officeDocument/2006/relationships/image"/><Relationship Id="rId5" Target="../media/image28.svg" Type="http://schemas.openxmlformats.org/officeDocument/2006/relationships/image"/><Relationship Id="rId6" Target="../media/image29.svg" Type="http://schemas.openxmlformats.org/officeDocument/2006/relationships/image"/><Relationship Id="rId7" Target="../media/image3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svg" Type="http://schemas.openxmlformats.org/officeDocument/2006/relationships/image"/><Relationship Id="rId6" Target="../media/image34.svg" Type="http://schemas.openxmlformats.org/officeDocument/2006/relationships/image"/><Relationship Id="rId7" Target="../media/image35.svg" Type="http://schemas.openxmlformats.org/officeDocument/2006/relationships/image"/><Relationship Id="rId8" Target="../media/image36.svg" Type="http://schemas.openxmlformats.org/officeDocument/2006/relationships/image"/><Relationship Id="rId9" Target="../media/image3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31.png" Type="http://schemas.openxmlformats.org/officeDocument/2006/relationships/image"/><Relationship Id="rId4" Target="../media/image38.svg" Type="http://schemas.openxmlformats.org/officeDocument/2006/relationships/image"/><Relationship Id="rId5" Target="../media/image39.svg" Type="http://schemas.openxmlformats.org/officeDocument/2006/relationships/image"/><Relationship Id="rId6" Target="../media/image40.svg" Type="http://schemas.openxmlformats.org/officeDocument/2006/relationships/image"/><Relationship Id="rId7" Target="../media/image41.svg" Type="http://schemas.openxmlformats.org/officeDocument/2006/relationships/image"/><Relationship Id="rId8" Target="../media/image42.svg" Type="http://schemas.openxmlformats.org/officeDocument/2006/relationships/image"/><Relationship Id="rId9" Target="../media/image4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31.png" Type="http://schemas.openxmlformats.org/officeDocument/2006/relationships/image"/><Relationship Id="rId4" Target="../media/image44.svg" Type="http://schemas.openxmlformats.org/officeDocument/2006/relationships/image"/><Relationship Id="rId5" Target="../media/image45.svg" Type="http://schemas.openxmlformats.org/officeDocument/2006/relationships/image"/><Relationship Id="rId6" Target="../media/image46.svg" Type="http://schemas.openxmlformats.org/officeDocument/2006/relationships/image"/><Relationship Id="rId7" Target="../media/image47.svg" Type="http://schemas.openxmlformats.org/officeDocument/2006/relationships/image"/><Relationship Id="rId8" Target="../media/image48.svg" Type="http://schemas.openxmlformats.org/officeDocument/2006/relationships/image"/><Relationship Id="rId9" Target="../media/image4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50.jpeg" Type="http://schemas.openxmlformats.org/officeDocument/2006/relationships/image"/><Relationship Id="rId4" Target="../media/image51.jpeg" Type="http://schemas.openxmlformats.org/officeDocument/2006/relationships/image"/><Relationship Id="rId5" Target="../media/image52.jpeg" Type="http://schemas.openxmlformats.org/officeDocument/2006/relationships/image"/><Relationship Id="rId6" Target="../media/image5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401586"/>
            <a:ext cx="18288000" cy="2762250"/>
          </a:xfrm>
          <a:custGeom>
            <a:avLst/>
            <a:gdLst/>
            <a:ahLst/>
            <a:cxnLst/>
            <a:rect r="r" b="b" t="t" l="l"/>
            <a:pathLst>
              <a:path h="2762250" w="18288000">
                <a:moveTo>
                  <a:pt x="0" y="0"/>
                </a:moveTo>
                <a:lnTo>
                  <a:pt x="18288000" y="0"/>
                </a:lnTo>
                <a:lnTo>
                  <a:pt x="18288000" y="2762250"/>
                </a:lnTo>
                <a:lnTo>
                  <a:pt x="0" y="2762250"/>
                </a:lnTo>
                <a:lnTo>
                  <a:pt x="0" y="0"/>
                </a:lnTo>
                <a:close/>
              </a:path>
            </a:pathLst>
          </a:custGeom>
          <a:blipFill>
            <a:blip r:embed="rId2"/>
            <a:stretch>
              <a:fillRect l="-360" t="0" r="-368" b="0"/>
            </a:stretch>
          </a:blipFill>
        </p:spPr>
      </p:sp>
      <p:sp>
        <p:nvSpPr>
          <p:cNvPr name="Freeform 3" id="3"/>
          <p:cNvSpPr/>
          <p:nvPr/>
        </p:nvSpPr>
        <p:spPr>
          <a:xfrm flipH="false" flipV="false" rot="0">
            <a:off x="14001750" y="74305"/>
            <a:ext cx="4000500" cy="1219200"/>
          </a:xfrm>
          <a:custGeom>
            <a:avLst/>
            <a:gdLst/>
            <a:ahLst/>
            <a:cxnLst/>
            <a:rect r="r" b="b" t="t" l="l"/>
            <a:pathLst>
              <a:path h="1219200" w="4000500">
                <a:moveTo>
                  <a:pt x="0" y="0"/>
                </a:moveTo>
                <a:lnTo>
                  <a:pt x="4000500" y="0"/>
                </a:lnTo>
                <a:lnTo>
                  <a:pt x="4000500" y="1219200"/>
                </a:lnTo>
                <a:lnTo>
                  <a:pt x="0" y="1219200"/>
                </a:lnTo>
                <a:lnTo>
                  <a:pt x="0" y="0"/>
                </a:lnTo>
                <a:close/>
              </a:path>
            </a:pathLst>
          </a:custGeom>
          <a:blipFill>
            <a:blip r:embed="rId3"/>
            <a:stretch>
              <a:fillRect l="-3107" t="0" r="-3082" b="0"/>
            </a:stretch>
          </a:blipFill>
        </p:spPr>
      </p:sp>
      <p:sp>
        <p:nvSpPr>
          <p:cNvPr name="Freeform 4" id="4"/>
          <p:cNvSpPr/>
          <p:nvPr/>
        </p:nvSpPr>
        <p:spPr>
          <a:xfrm flipH="false" flipV="false" rot="0">
            <a:off x="14288" y="41805"/>
            <a:ext cx="3305175" cy="1362075"/>
          </a:xfrm>
          <a:custGeom>
            <a:avLst/>
            <a:gdLst/>
            <a:ahLst/>
            <a:cxnLst/>
            <a:rect r="r" b="b" t="t" l="l"/>
            <a:pathLst>
              <a:path h="1362075" w="3305175">
                <a:moveTo>
                  <a:pt x="0" y="0"/>
                </a:moveTo>
                <a:lnTo>
                  <a:pt x="3305174" y="0"/>
                </a:lnTo>
                <a:lnTo>
                  <a:pt x="3305174" y="1362075"/>
                </a:lnTo>
                <a:lnTo>
                  <a:pt x="0" y="1362075"/>
                </a:lnTo>
                <a:lnTo>
                  <a:pt x="0" y="0"/>
                </a:lnTo>
                <a:close/>
              </a:path>
            </a:pathLst>
          </a:custGeom>
          <a:blipFill>
            <a:blip r:embed="rId4"/>
            <a:stretch>
              <a:fillRect l="-7132" t="-18269" r="-11887" b="-25786"/>
            </a:stretch>
          </a:blipFill>
        </p:spPr>
      </p:sp>
      <p:grpSp>
        <p:nvGrpSpPr>
          <p:cNvPr name="Group 5" id="5"/>
          <p:cNvGrpSpPr>
            <a:grpSpLocks noChangeAspect="true"/>
          </p:cNvGrpSpPr>
          <p:nvPr/>
        </p:nvGrpSpPr>
        <p:grpSpPr>
          <a:xfrm rot="0">
            <a:off x="-49216" y="-21698"/>
            <a:ext cx="3432172" cy="1489072"/>
            <a:chOff x="0" y="0"/>
            <a:chExt cx="3432175" cy="1489075"/>
          </a:xfrm>
        </p:grpSpPr>
        <p:sp>
          <p:nvSpPr>
            <p:cNvPr name="Freeform 6" id="6"/>
            <p:cNvSpPr/>
            <p:nvPr/>
          </p:nvSpPr>
          <p:spPr>
            <a:xfrm flipH="false" flipV="false" rot="0">
              <a:off x="63500" y="63500"/>
              <a:ext cx="3305175" cy="1362075"/>
            </a:xfrm>
            <a:custGeom>
              <a:avLst/>
              <a:gdLst/>
              <a:ahLst/>
              <a:cxnLst/>
              <a:rect r="r" b="b" t="t" l="l"/>
              <a:pathLst>
                <a:path h="1362075" w="3305175">
                  <a:moveTo>
                    <a:pt x="0" y="1362075"/>
                  </a:moveTo>
                  <a:lnTo>
                    <a:pt x="3305175" y="1362075"/>
                  </a:lnTo>
                  <a:lnTo>
                    <a:pt x="3305175" y="0"/>
                  </a:lnTo>
                  <a:lnTo>
                    <a:pt x="0" y="0"/>
                  </a:lnTo>
                  <a:close/>
                </a:path>
              </a:pathLst>
            </a:custGeom>
            <a:solidFill>
              <a:srgbClr val="C00000">
                <a:alpha val="0"/>
              </a:srgbClr>
            </a:solidFill>
          </p:spPr>
        </p:sp>
        <p:sp>
          <p:nvSpPr>
            <p:cNvPr name="Freeform 7" id="7"/>
            <p:cNvSpPr/>
            <p:nvPr/>
          </p:nvSpPr>
          <p:spPr>
            <a:xfrm flipH="false" flipV="false" rot="0">
              <a:off x="63500" y="63500"/>
              <a:ext cx="3300476" cy="1362075"/>
            </a:xfrm>
            <a:custGeom>
              <a:avLst/>
              <a:gdLst/>
              <a:ahLst/>
              <a:cxnLst/>
              <a:rect r="r" b="b" t="t" l="l"/>
              <a:pathLst>
                <a:path h="1362075" w="3300476">
                  <a:moveTo>
                    <a:pt x="0" y="1362075"/>
                  </a:moveTo>
                  <a:lnTo>
                    <a:pt x="3300476" y="1362075"/>
                  </a:lnTo>
                  <a:lnTo>
                    <a:pt x="3300476" y="0"/>
                  </a:lnTo>
                  <a:lnTo>
                    <a:pt x="0" y="0"/>
                  </a:lnTo>
                  <a:close/>
                </a:path>
              </a:pathLst>
            </a:custGeom>
            <a:solidFill>
              <a:srgbClr val="C00000">
                <a:alpha val="0"/>
              </a:srgbClr>
            </a:solidFill>
          </p:spPr>
        </p:sp>
      </p:grpSp>
      <p:grpSp>
        <p:nvGrpSpPr>
          <p:cNvPr name="Group 8" id="8"/>
          <p:cNvGrpSpPr>
            <a:grpSpLocks noChangeAspect="true"/>
          </p:cNvGrpSpPr>
          <p:nvPr/>
        </p:nvGrpSpPr>
        <p:grpSpPr>
          <a:xfrm rot="0">
            <a:off x="-63503" y="2338083"/>
            <a:ext cx="18414997" cy="2887656"/>
            <a:chOff x="0" y="0"/>
            <a:chExt cx="18415000" cy="2887662"/>
          </a:xfrm>
        </p:grpSpPr>
        <p:sp>
          <p:nvSpPr>
            <p:cNvPr name="Freeform 9" id="9"/>
            <p:cNvSpPr/>
            <p:nvPr/>
          </p:nvSpPr>
          <p:spPr>
            <a:xfrm flipH="false" flipV="false" rot="0">
              <a:off x="63500" y="63500"/>
              <a:ext cx="18288000" cy="2760599"/>
            </a:xfrm>
            <a:custGeom>
              <a:avLst/>
              <a:gdLst/>
              <a:ahLst/>
              <a:cxnLst/>
              <a:rect r="r" b="b" t="t" l="l"/>
              <a:pathLst>
                <a:path h="2760599" w="18288000">
                  <a:moveTo>
                    <a:pt x="0" y="0"/>
                  </a:moveTo>
                  <a:lnTo>
                    <a:pt x="0" y="2760599"/>
                  </a:lnTo>
                  <a:lnTo>
                    <a:pt x="18288000" y="2760599"/>
                  </a:lnTo>
                  <a:lnTo>
                    <a:pt x="18288000" y="0"/>
                  </a:lnTo>
                  <a:close/>
                </a:path>
              </a:pathLst>
            </a:custGeom>
            <a:solidFill>
              <a:srgbClr val="C00000">
                <a:alpha val="0"/>
              </a:srgbClr>
            </a:solidFill>
          </p:spPr>
        </p:sp>
        <p:sp>
          <p:nvSpPr>
            <p:cNvPr name="Freeform 10" id="10"/>
            <p:cNvSpPr/>
            <p:nvPr/>
          </p:nvSpPr>
          <p:spPr>
            <a:xfrm flipH="false" flipV="false" rot="0">
              <a:off x="63500" y="127000"/>
              <a:ext cx="18288000" cy="2633726"/>
            </a:xfrm>
            <a:custGeom>
              <a:avLst/>
              <a:gdLst/>
              <a:ahLst/>
              <a:cxnLst/>
              <a:rect r="r" b="b" t="t" l="l"/>
              <a:pathLst>
                <a:path h="2633726" w="18288000">
                  <a:moveTo>
                    <a:pt x="0" y="2633726"/>
                  </a:moveTo>
                  <a:lnTo>
                    <a:pt x="18288000" y="2633726"/>
                  </a:lnTo>
                  <a:lnTo>
                    <a:pt x="18288000" y="0"/>
                  </a:lnTo>
                  <a:lnTo>
                    <a:pt x="0" y="0"/>
                  </a:lnTo>
                  <a:close/>
                </a:path>
              </a:pathLst>
            </a:custGeom>
            <a:solidFill>
              <a:srgbClr val="C00000">
                <a:alpha val="0"/>
              </a:srgbClr>
            </a:solidFill>
          </p:spPr>
        </p:sp>
      </p:grpSp>
      <p:grpSp>
        <p:nvGrpSpPr>
          <p:cNvPr name="Group 11" id="11"/>
          <p:cNvGrpSpPr>
            <a:grpSpLocks noChangeAspect="true"/>
          </p:cNvGrpSpPr>
          <p:nvPr/>
        </p:nvGrpSpPr>
        <p:grpSpPr>
          <a:xfrm rot="0">
            <a:off x="13938247" y="10801"/>
            <a:ext cx="4127497" cy="1348130"/>
            <a:chOff x="0" y="0"/>
            <a:chExt cx="4127500" cy="1348130"/>
          </a:xfrm>
        </p:grpSpPr>
        <p:sp>
          <p:nvSpPr>
            <p:cNvPr name="Freeform 12" id="12"/>
            <p:cNvSpPr/>
            <p:nvPr/>
          </p:nvSpPr>
          <p:spPr>
            <a:xfrm flipH="false" flipV="false" rot="0">
              <a:off x="63500" y="63500"/>
              <a:ext cx="4000500" cy="1221105"/>
            </a:xfrm>
            <a:custGeom>
              <a:avLst/>
              <a:gdLst/>
              <a:ahLst/>
              <a:cxnLst/>
              <a:rect r="r" b="b" t="t" l="l"/>
              <a:pathLst>
                <a:path h="1221105" w="4000500">
                  <a:moveTo>
                    <a:pt x="0" y="1221105"/>
                  </a:moveTo>
                  <a:lnTo>
                    <a:pt x="4000500" y="1221105"/>
                  </a:lnTo>
                  <a:lnTo>
                    <a:pt x="4000500" y="0"/>
                  </a:lnTo>
                  <a:lnTo>
                    <a:pt x="0" y="0"/>
                  </a:lnTo>
                  <a:close/>
                </a:path>
              </a:pathLst>
            </a:custGeom>
            <a:solidFill>
              <a:srgbClr val="C00000">
                <a:alpha val="0"/>
              </a:srgbClr>
            </a:solidFill>
          </p:spPr>
        </p:sp>
        <p:sp>
          <p:nvSpPr>
            <p:cNvPr name="Freeform 13" id="13"/>
            <p:cNvSpPr/>
            <p:nvPr/>
          </p:nvSpPr>
          <p:spPr>
            <a:xfrm flipH="false" flipV="false" rot="0">
              <a:off x="63500" y="63500"/>
              <a:ext cx="4000500" cy="1219200"/>
            </a:xfrm>
            <a:custGeom>
              <a:avLst/>
              <a:gdLst/>
              <a:ahLst/>
              <a:cxnLst/>
              <a:rect r="r" b="b" t="t" l="l"/>
              <a:pathLst>
                <a:path h="1219200" w="4000500">
                  <a:moveTo>
                    <a:pt x="0" y="1219200"/>
                  </a:moveTo>
                  <a:lnTo>
                    <a:pt x="4000500" y="1219200"/>
                  </a:lnTo>
                  <a:lnTo>
                    <a:pt x="4000500" y="0"/>
                  </a:lnTo>
                  <a:lnTo>
                    <a:pt x="0" y="0"/>
                  </a:lnTo>
                  <a:close/>
                </a:path>
              </a:pathLst>
            </a:custGeom>
            <a:solidFill>
              <a:srgbClr val="C00000">
                <a:alpha val="0"/>
              </a:srgbClr>
            </a:solidFill>
          </p:spPr>
        </p:sp>
      </p:grpSp>
      <p:sp>
        <p:nvSpPr>
          <p:cNvPr name="TextBox 14" id="14"/>
          <p:cNvSpPr txBox="true"/>
          <p:nvPr/>
        </p:nvSpPr>
        <p:spPr>
          <a:xfrm rot="0">
            <a:off x="1122606" y="3157462"/>
            <a:ext cx="16195150" cy="1126673"/>
          </a:xfrm>
          <a:prstGeom prst="rect">
            <a:avLst/>
          </a:prstGeom>
        </p:spPr>
        <p:txBody>
          <a:bodyPr anchor="t" rtlCol="false" tIns="0" lIns="0" bIns="0" rIns="0">
            <a:spAutoFit/>
          </a:bodyPr>
          <a:lstStyle/>
          <a:p>
            <a:pPr algn="l">
              <a:lnSpc>
                <a:spcPts val="9299"/>
              </a:lnSpc>
            </a:pPr>
            <a:r>
              <a:rPr lang="en-US" b="true" sz="6642" spc="59">
                <a:solidFill>
                  <a:srgbClr val="FFFFFF"/>
                </a:solidFill>
                <a:latin typeface="TT Rounds Condensed Bold"/>
                <a:ea typeface="TT Rounds Condensed Bold"/>
                <a:cs typeface="TT Rounds Condensed Bold"/>
                <a:sym typeface="TT Rounds Condensed Bold"/>
              </a:rPr>
              <a:t>WILDLIFE SANCTUARY IN </a:t>
            </a:r>
            <a:r>
              <a:rPr lang="en-US" b="true" sz="6642" spc="59">
                <a:solidFill>
                  <a:srgbClr val="FFFFFF"/>
                </a:solidFill>
                <a:latin typeface="TT Rounds Condensed Bold"/>
                <a:ea typeface="TT Rounds Condensed Bold"/>
                <a:cs typeface="TT Rounds Condensed Bold"/>
                <a:sym typeface="TT Rounds Condensed Bold"/>
              </a:rPr>
              <a:t>VIRTUAL REALITY </a:t>
            </a:r>
          </a:p>
        </p:txBody>
      </p:sp>
      <p:sp>
        <p:nvSpPr>
          <p:cNvPr name="TextBox 15" id="15"/>
          <p:cNvSpPr txBox="true"/>
          <p:nvPr/>
        </p:nvSpPr>
        <p:spPr>
          <a:xfrm rot="0">
            <a:off x="1664494" y="6458226"/>
            <a:ext cx="93269" cy="539115"/>
          </a:xfrm>
          <a:prstGeom prst="rect">
            <a:avLst/>
          </a:prstGeom>
        </p:spPr>
        <p:txBody>
          <a:bodyPr anchor="t" rtlCol="false" tIns="0" lIns="0" bIns="0" rIns="0">
            <a:spAutoFit/>
          </a:bodyPr>
          <a:lstStyle/>
          <a:p>
            <a:pPr algn="l">
              <a:lnSpc>
                <a:spcPts val="4244"/>
              </a:lnSpc>
            </a:pPr>
            <a:r>
              <a:rPr lang="en-US" b="true" sz="3600" spc="32">
                <a:solidFill>
                  <a:srgbClr val="FF0000"/>
                </a:solidFill>
                <a:latin typeface="TT Rounds Condensed Bold"/>
                <a:ea typeface="TT Rounds Condensed Bold"/>
                <a:cs typeface="TT Rounds Condensed Bold"/>
                <a:sym typeface="TT Rounds Condensed Bold"/>
              </a:rPr>
              <a:t> </a:t>
            </a:r>
          </a:p>
        </p:txBody>
      </p:sp>
      <p:sp>
        <p:nvSpPr>
          <p:cNvPr name="TextBox 16" id="16"/>
          <p:cNvSpPr txBox="true"/>
          <p:nvPr/>
        </p:nvSpPr>
        <p:spPr>
          <a:xfrm rot="0">
            <a:off x="1664494" y="6463865"/>
            <a:ext cx="7479501" cy="533476"/>
          </a:xfrm>
          <a:prstGeom prst="rect">
            <a:avLst/>
          </a:prstGeom>
        </p:spPr>
        <p:txBody>
          <a:bodyPr anchor="t" rtlCol="false" tIns="0" lIns="0" bIns="0" rIns="0">
            <a:spAutoFit/>
          </a:bodyPr>
          <a:lstStyle/>
          <a:p>
            <a:pPr algn="ctr">
              <a:lnSpc>
                <a:spcPts val="4244"/>
              </a:lnSpc>
            </a:pPr>
            <a:r>
              <a:rPr lang="en-US" b="true" sz="3600" spc="32">
                <a:solidFill>
                  <a:srgbClr val="FF0000"/>
                </a:solidFill>
                <a:latin typeface="TT Rounds Condensed Bold"/>
                <a:ea typeface="TT Rounds Condensed Bold"/>
                <a:cs typeface="TT Rounds Condensed Bold"/>
                <a:sym typeface="TT Rounds Condensed Bold"/>
              </a:rPr>
              <a:t>Presented by</a:t>
            </a:r>
          </a:p>
        </p:txBody>
      </p:sp>
      <p:sp>
        <p:nvSpPr>
          <p:cNvPr name="TextBox 17" id="17"/>
          <p:cNvSpPr txBox="true"/>
          <p:nvPr/>
        </p:nvSpPr>
        <p:spPr>
          <a:xfrm rot="0">
            <a:off x="1757763" y="7311666"/>
            <a:ext cx="3693116" cy="2133676"/>
          </a:xfrm>
          <a:prstGeom prst="rect">
            <a:avLst/>
          </a:prstGeom>
        </p:spPr>
        <p:txBody>
          <a:bodyPr anchor="t" rtlCol="false" tIns="0" lIns="0" bIns="0" rIns="0">
            <a:spAutoFit/>
          </a:bodyPr>
          <a:lstStyle/>
          <a:p>
            <a:pPr algn="l">
              <a:lnSpc>
                <a:spcPts val="4244"/>
              </a:lnSpc>
            </a:pPr>
            <a:r>
              <a:rPr lang="en-US" sz="3600" spc="32" b="true">
                <a:solidFill>
                  <a:srgbClr val="000000"/>
                </a:solidFill>
                <a:latin typeface="TT Rounds Condensed Bold"/>
                <a:ea typeface="TT Rounds Condensed Bold"/>
                <a:cs typeface="TT Rounds Condensed Bold"/>
                <a:sym typeface="TT Rounds Condensed Bold"/>
              </a:rPr>
              <a:t>Ashwanth Kumar K </a:t>
            </a:r>
          </a:p>
          <a:p>
            <a:pPr algn="l">
              <a:lnSpc>
                <a:spcPts val="4244"/>
              </a:lnSpc>
            </a:pPr>
            <a:r>
              <a:rPr lang="en-US" b="true" sz="3600" spc="32">
                <a:solidFill>
                  <a:srgbClr val="000000"/>
                </a:solidFill>
                <a:latin typeface="TT Rounds Condensed Bold"/>
                <a:ea typeface="TT Rounds Condensed Bold"/>
                <a:cs typeface="TT Rounds Condensed Bold"/>
                <a:sym typeface="TT Rounds Condensed Bold"/>
              </a:rPr>
              <a:t>Kishore Kumar S Gokul GJ Nitheshkumar S </a:t>
            </a:r>
          </a:p>
        </p:txBody>
      </p:sp>
      <p:sp>
        <p:nvSpPr>
          <p:cNvPr name="TextBox 18" id="18"/>
          <p:cNvSpPr txBox="true"/>
          <p:nvPr/>
        </p:nvSpPr>
        <p:spPr>
          <a:xfrm rot="0">
            <a:off x="5803654" y="7311666"/>
            <a:ext cx="3340341" cy="2133676"/>
          </a:xfrm>
          <a:prstGeom prst="rect">
            <a:avLst/>
          </a:prstGeom>
        </p:spPr>
        <p:txBody>
          <a:bodyPr anchor="t" rtlCol="false" tIns="0" lIns="0" bIns="0" rIns="0">
            <a:spAutoFit/>
          </a:bodyPr>
          <a:lstStyle/>
          <a:p>
            <a:pPr algn="just">
              <a:lnSpc>
                <a:spcPts val="4244"/>
              </a:lnSpc>
            </a:pPr>
            <a:r>
              <a:rPr lang="en-US" b="true" sz="3600" spc="32">
                <a:solidFill>
                  <a:srgbClr val="000000"/>
                </a:solidFill>
                <a:latin typeface="TT Rounds Condensed Bold"/>
                <a:ea typeface="TT Rounds Condensed Bold"/>
                <a:cs typeface="TT Rounds Condensed Bold"/>
                <a:sym typeface="TT Rounds Condensed Bold"/>
              </a:rPr>
              <a:t>-    311021104017</a:t>
            </a:r>
          </a:p>
          <a:p>
            <a:pPr algn="just">
              <a:lnSpc>
                <a:spcPts val="4244"/>
              </a:lnSpc>
            </a:pPr>
            <a:r>
              <a:rPr lang="en-US" b="true" sz="3600" spc="32">
                <a:solidFill>
                  <a:srgbClr val="000000"/>
                </a:solidFill>
                <a:latin typeface="TT Rounds Condensed Bold"/>
                <a:ea typeface="TT Rounds Condensed Bold"/>
                <a:cs typeface="TT Rounds Condensed Bold"/>
                <a:sym typeface="TT Rounds Condensed Bold"/>
              </a:rPr>
              <a:t>- 311021104062 - 311021104040 -   311021104078</a:t>
            </a:r>
          </a:p>
        </p:txBody>
      </p:sp>
      <p:sp>
        <p:nvSpPr>
          <p:cNvPr name="TextBox 19" id="19"/>
          <p:cNvSpPr txBox="true"/>
          <p:nvPr/>
        </p:nvSpPr>
        <p:spPr>
          <a:xfrm rot="0">
            <a:off x="13749819" y="7235466"/>
            <a:ext cx="2252177" cy="613410"/>
          </a:xfrm>
          <a:prstGeom prst="rect">
            <a:avLst/>
          </a:prstGeom>
        </p:spPr>
        <p:txBody>
          <a:bodyPr anchor="t" rtlCol="false" tIns="0" lIns="0" bIns="0" rIns="0">
            <a:spAutoFit/>
          </a:bodyPr>
          <a:lstStyle/>
          <a:p>
            <a:pPr algn="just">
              <a:lnSpc>
                <a:spcPts val="5040"/>
              </a:lnSpc>
            </a:pPr>
            <a:r>
              <a:rPr lang="en-US" b="true" sz="3600" spc="32">
                <a:solidFill>
                  <a:srgbClr val="FF0000"/>
                </a:solidFill>
                <a:latin typeface="TT Rounds Condensed Bold"/>
                <a:ea typeface="TT Rounds Condensed Bold"/>
                <a:cs typeface="TT Rounds Condensed Bold"/>
                <a:sym typeface="TT Rounds Condensed Bold"/>
              </a:rPr>
              <a:t> </a:t>
            </a:r>
            <a:r>
              <a:rPr lang="en-US" b="true" sz="3600" spc="32">
                <a:solidFill>
                  <a:srgbClr val="000000"/>
                </a:solidFill>
                <a:latin typeface="TT Rounds Condensed Bold"/>
                <a:ea typeface="TT Rounds Condensed Bold"/>
                <a:cs typeface="TT Rounds Condensed Bold"/>
                <a:sym typeface="TT Rounds Condensed Bold"/>
              </a:rPr>
              <a:t>Ms.Divya A</a:t>
            </a:r>
          </a:p>
        </p:txBody>
      </p:sp>
      <p:sp>
        <p:nvSpPr>
          <p:cNvPr name="TextBox 20" id="20"/>
          <p:cNvSpPr txBox="true"/>
          <p:nvPr/>
        </p:nvSpPr>
        <p:spPr>
          <a:xfrm rot="0">
            <a:off x="2418700" y="5082864"/>
            <a:ext cx="3032179" cy="689610"/>
          </a:xfrm>
          <a:prstGeom prst="rect">
            <a:avLst/>
          </a:prstGeom>
        </p:spPr>
        <p:txBody>
          <a:bodyPr anchor="t" rtlCol="false" tIns="0" lIns="0" bIns="0" rIns="0">
            <a:spAutoFit/>
          </a:bodyPr>
          <a:lstStyle/>
          <a:p>
            <a:pPr algn="l">
              <a:lnSpc>
                <a:spcPts val="5040"/>
              </a:lnSpc>
            </a:pPr>
            <a:r>
              <a:rPr lang="en-US" b="true" sz="3600">
                <a:solidFill>
                  <a:srgbClr val="000000"/>
                </a:solidFill>
                <a:latin typeface="Arial Bold"/>
                <a:ea typeface="Arial Bold"/>
                <a:cs typeface="Arial Bold"/>
                <a:sym typeface="Arial Bold"/>
              </a:rPr>
              <a:t>Final Review</a:t>
            </a:r>
          </a:p>
        </p:txBody>
      </p:sp>
      <p:sp>
        <p:nvSpPr>
          <p:cNvPr name="TextBox 21" id="21"/>
          <p:cNvSpPr txBox="true"/>
          <p:nvPr/>
        </p:nvSpPr>
        <p:spPr>
          <a:xfrm rot="0">
            <a:off x="7977202" y="5065319"/>
            <a:ext cx="2333587" cy="689610"/>
          </a:xfrm>
          <a:prstGeom prst="rect">
            <a:avLst/>
          </a:prstGeom>
        </p:spPr>
        <p:txBody>
          <a:bodyPr anchor="t" rtlCol="false" tIns="0" lIns="0" bIns="0" rIns="0">
            <a:spAutoFit/>
          </a:bodyPr>
          <a:lstStyle/>
          <a:p>
            <a:pPr algn="l">
              <a:lnSpc>
                <a:spcPts val="5040"/>
              </a:lnSpc>
            </a:pPr>
            <a:r>
              <a:rPr lang="en-US" b="true" sz="3600">
                <a:solidFill>
                  <a:srgbClr val="000000"/>
                </a:solidFill>
                <a:latin typeface="Arial Bold"/>
                <a:ea typeface="Arial Bold"/>
                <a:cs typeface="Arial Bold"/>
                <a:sym typeface="Arial Bold"/>
              </a:rPr>
              <a:t>24</a:t>
            </a:r>
            <a:r>
              <a:rPr lang="en-US" b="true" sz="3600">
                <a:solidFill>
                  <a:srgbClr val="000000"/>
                </a:solidFill>
                <a:latin typeface="Arial Bold"/>
                <a:ea typeface="Arial Bold"/>
                <a:cs typeface="Arial Bold"/>
                <a:sym typeface="Arial Bold"/>
              </a:rPr>
              <a:t>.04.2025</a:t>
            </a:r>
          </a:p>
        </p:txBody>
      </p:sp>
      <p:sp>
        <p:nvSpPr>
          <p:cNvPr name="TextBox 22" id="22"/>
          <p:cNvSpPr txBox="true"/>
          <p:nvPr/>
        </p:nvSpPr>
        <p:spPr>
          <a:xfrm rot="0">
            <a:off x="12368070" y="5065319"/>
            <a:ext cx="2850299" cy="668655"/>
          </a:xfrm>
          <a:prstGeom prst="rect">
            <a:avLst/>
          </a:prstGeom>
        </p:spPr>
        <p:txBody>
          <a:bodyPr anchor="t" rtlCol="false" tIns="0" lIns="0" bIns="0" rIns="0">
            <a:spAutoFit/>
          </a:bodyPr>
          <a:lstStyle/>
          <a:p>
            <a:pPr algn="l">
              <a:lnSpc>
                <a:spcPts val="5040"/>
              </a:lnSpc>
            </a:pPr>
            <a:r>
              <a:rPr lang="en-US" b="true" sz="3600">
                <a:solidFill>
                  <a:srgbClr val="000000"/>
                </a:solidFill>
                <a:latin typeface="Arial Bold"/>
                <a:ea typeface="Arial Bold"/>
                <a:cs typeface="Arial Bold"/>
                <a:sym typeface="Arial Bold"/>
              </a:rPr>
              <a:t>Batch No :17</a:t>
            </a:r>
          </a:p>
        </p:txBody>
      </p:sp>
      <p:sp>
        <p:nvSpPr>
          <p:cNvPr name="TextBox 23" id="23"/>
          <p:cNvSpPr txBox="true"/>
          <p:nvPr/>
        </p:nvSpPr>
        <p:spPr>
          <a:xfrm rot="0">
            <a:off x="8384086" y="9719129"/>
            <a:ext cx="1672190" cy="499110"/>
          </a:xfrm>
          <a:prstGeom prst="rect">
            <a:avLst/>
          </a:prstGeom>
        </p:spPr>
        <p:txBody>
          <a:bodyPr anchor="t" rtlCol="false" tIns="0" lIns="0" bIns="0" rIns="0">
            <a:spAutoFit/>
          </a:bodyPr>
          <a:lstStyle/>
          <a:p>
            <a:pPr algn="l">
              <a:lnSpc>
                <a:spcPts val="3779"/>
              </a:lnSpc>
            </a:pPr>
            <a:r>
              <a:rPr lang="en-US" b="true" sz="2700">
                <a:solidFill>
                  <a:srgbClr val="000000"/>
                </a:solidFill>
                <a:latin typeface="Arial Bold"/>
                <a:ea typeface="Arial Bold"/>
                <a:cs typeface="Arial Bold"/>
                <a:sym typeface="Arial Bold"/>
              </a:rPr>
              <a:t>2024-2025</a:t>
            </a:r>
          </a:p>
        </p:txBody>
      </p:sp>
      <p:sp>
        <p:nvSpPr>
          <p:cNvPr name="TextBox 24" id="24"/>
          <p:cNvSpPr txBox="true"/>
          <p:nvPr/>
        </p:nvSpPr>
        <p:spPr>
          <a:xfrm rot="0">
            <a:off x="6218863" y="1265301"/>
            <a:ext cx="5962355" cy="826770"/>
          </a:xfrm>
          <a:prstGeom prst="rect">
            <a:avLst/>
          </a:prstGeom>
        </p:spPr>
        <p:txBody>
          <a:bodyPr anchor="t" rtlCol="false" tIns="0" lIns="0" bIns="0" rIns="0">
            <a:spAutoFit/>
          </a:bodyPr>
          <a:lstStyle/>
          <a:p>
            <a:pPr algn="l">
              <a:lnSpc>
                <a:spcPts val="6719"/>
              </a:lnSpc>
            </a:pPr>
            <a:r>
              <a:rPr lang="en-US" b="true" sz="4800" spc="43">
                <a:solidFill>
                  <a:srgbClr val="000000"/>
                </a:solidFill>
                <a:latin typeface="TT Rounds Condensed Bold"/>
                <a:ea typeface="TT Rounds Condensed Bold"/>
                <a:cs typeface="TT Rounds Condensed Bold"/>
                <a:sym typeface="TT Rounds Condensed Bold"/>
              </a:rPr>
              <a:t>CS 3811 - Project Work</a:t>
            </a:r>
          </a:p>
        </p:txBody>
      </p:sp>
      <p:sp>
        <p:nvSpPr>
          <p:cNvPr name="TextBox 25" id="25"/>
          <p:cNvSpPr txBox="true"/>
          <p:nvPr/>
        </p:nvSpPr>
        <p:spPr>
          <a:xfrm rot="0">
            <a:off x="13436994" y="6463865"/>
            <a:ext cx="2877826" cy="533476"/>
          </a:xfrm>
          <a:prstGeom prst="rect">
            <a:avLst/>
          </a:prstGeom>
        </p:spPr>
        <p:txBody>
          <a:bodyPr anchor="t" rtlCol="false" tIns="0" lIns="0" bIns="0" rIns="0">
            <a:spAutoFit/>
          </a:bodyPr>
          <a:lstStyle/>
          <a:p>
            <a:pPr algn="ctr">
              <a:lnSpc>
                <a:spcPts val="4244"/>
              </a:lnSpc>
            </a:pPr>
            <a:r>
              <a:rPr lang="en-US" b="true" sz="3600" spc="32">
                <a:solidFill>
                  <a:srgbClr val="FF0000"/>
                </a:solidFill>
                <a:latin typeface="TT Rounds Condensed Bold"/>
                <a:ea typeface="TT Rounds Condensed Bold"/>
                <a:cs typeface="TT Rounds Condensed Bold"/>
                <a:sym typeface="TT Rounds Condensed Bold"/>
              </a:rPr>
              <a:t>Supervisor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91689"/>
          </a:xfrm>
          <a:custGeom>
            <a:avLst/>
            <a:gdLst/>
            <a:ahLst/>
            <a:cxnLst/>
            <a:rect r="r" b="b" t="t" l="l"/>
            <a:pathLst>
              <a:path h="1091689" w="18288000">
                <a:moveTo>
                  <a:pt x="0" y="0"/>
                </a:moveTo>
                <a:lnTo>
                  <a:pt x="18288000" y="0"/>
                </a:lnTo>
                <a:lnTo>
                  <a:pt x="18288000" y="1091689"/>
                </a:lnTo>
                <a:lnTo>
                  <a:pt x="0" y="1091689"/>
                </a:lnTo>
                <a:lnTo>
                  <a:pt x="0" y="0"/>
                </a:lnTo>
                <a:close/>
              </a:path>
            </a:pathLst>
          </a:custGeom>
          <a:blipFill>
            <a:blip r:embed="rId2"/>
            <a:stretch>
              <a:fillRect l="-373" t="-9935" r="-355" b="0"/>
            </a:stretch>
          </a:blipFill>
        </p:spPr>
      </p:sp>
      <p:sp>
        <p:nvSpPr>
          <p:cNvPr name="Freeform 3" id="3"/>
          <p:cNvSpPr/>
          <p:nvPr/>
        </p:nvSpPr>
        <p:spPr>
          <a:xfrm flipH="false" flipV="false" rot="0">
            <a:off x="6765427" y="4966716"/>
            <a:ext cx="4752975" cy="4610100"/>
          </a:xfrm>
          <a:custGeom>
            <a:avLst/>
            <a:gdLst/>
            <a:ahLst/>
            <a:cxnLst/>
            <a:rect r="r" b="b" t="t" l="l"/>
            <a:pathLst>
              <a:path h="4610100" w="4752975">
                <a:moveTo>
                  <a:pt x="0" y="0"/>
                </a:moveTo>
                <a:lnTo>
                  <a:pt x="4752975" y="0"/>
                </a:lnTo>
                <a:lnTo>
                  <a:pt x="4752975" y="4610100"/>
                </a:lnTo>
                <a:lnTo>
                  <a:pt x="0" y="4610100"/>
                </a:lnTo>
                <a:lnTo>
                  <a:pt x="0" y="0"/>
                </a:lnTo>
                <a:close/>
              </a:path>
            </a:pathLst>
          </a:custGeom>
          <a:blipFill>
            <a:blip r:embed="rId3"/>
            <a:stretch>
              <a:fillRect l="0" t="-16232" r="0" b="-16205"/>
            </a:stretch>
          </a:blipFill>
        </p:spPr>
      </p:sp>
      <p:grpSp>
        <p:nvGrpSpPr>
          <p:cNvPr name="Group 4" id="4"/>
          <p:cNvGrpSpPr>
            <a:grpSpLocks noChangeAspect="true"/>
          </p:cNvGrpSpPr>
          <p:nvPr/>
        </p:nvGrpSpPr>
        <p:grpSpPr>
          <a:xfrm rot="0">
            <a:off x="-63503" y="-63503"/>
            <a:ext cx="18414997" cy="1219190"/>
            <a:chOff x="0" y="0"/>
            <a:chExt cx="18415000" cy="1219187"/>
          </a:xfrm>
        </p:grpSpPr>
        <p:sp>
          <p:nvSpPr>
            <p:cNvPr name="Freeform 5" id="5"/>
            <p:cNvSpPr/>
            <p:nvPr/>
          </p:nvSpPr>
          <p:spPr>
            <a:xfrm flipH="false" flipV="false" rot="0">
              <a:off x="63500" y="63500"/>
              <a:ext cx="18288000" cy="1092200"/>
            </a:xfrm>
            <a:custGeom>
              <a:avLst/>
              <a:gdLst/>
              <a:ahLst/>
              <a:cxnLst/>
              <a:rect r="r" b="b" t="t" l="l"/>
              <a:pathLst>
                <a:path h="1092200" w="18288000">
                  <a:moveTo>
                    <a:pt x="0" y="0"/>
                  </a:moveTo>
                  <a:lnTo>
                    <a:pt x="0" y="1092200"/>
                  </a:lnTo>
                  <a:lnTo>
                    <a:pt x="18288000" y="1092200"/>
                  </a:lnTo>
                  <a:lnTo>
                    <a:pt x="18288000" y="0"/>
                  </a:lnTo>
                  <a:close/>
                </a:path>
              </a:pathLst>
            </a:custGeom>
            <a:solidFill>
              <a:srgbClr val="C00000">
                <a:alpha val="0"/>
              </a:srgbClr>
            </a:solidFill>
          </p:spPr>
        </p:sp>
        <p:sp>
          <p:nvSpPr>
            <p:cNvPr name="Freeform 6" id="6"/>
            <p:cNvSpPr/>
            <p:nvPr/>
          </p:nvSpPr>
          <p:spPr>
            <a:xfrm flipH="false" flipV="false" rot="0">
              <a:off x="63500" y="63500"/>
              <a:ext cx="18288000" cy="1028700"/>
            </a:xfrm>
            <a:custGeom>
              <a:avLst/>
              <a:gdLst/>
              <a:ahLst/>
              <a:cxnLst/>
              <a:rect r="r" b="b" t="t" l="l"/>
              <a:pathLst>
                <a:path h="1028700" w="18288000">
                  <a:moveTo>
                    <a:pt x="0" y="1028700"/>
                  </a:moveTo>
                  <a:lnTo>
                    <a:pt x="18288000" y="1028700"/>
                  </a:lnTo>
                  <a:lnTo>
                    <a:pt x="18288000" y="0"/>
                  </a:lnTo>
                  <a:lnTo>
                    <a:pt x="0" y="0"/>
                  </a:lnTo>
                  <a:close/>
                </a:path>
              </a:pathLst>
            </a:custGeom>
            <a:solidFill>
              <a:srgbClr val="C00000">
                <a:alpha val="0"/>
              </a:srgbClr>
            </a:solidFill>
          </p:spPr>
        </p:sp>
      </p:grpSp>
      <p:grpSp>
        <p:nvGrpSpPr>
          <p:cNvPr name="Group 7" id="7"/>
          <p:cNvGrpSpPr>
            <a:grpSpLocks noChangeAspect="true"/>
          </p:cNvGrpSpPr>
          <p:nvPr/>
        </p:nvGrpSpPr>
        <p:grpSpPr>
          <a:xfrm rot="0">
            <a:off x="6701923" y="4903213"/>
            <a:ext cx="4879972" cy="4740526"/>
            <a:chOff x="0" y="0"/>
            <a:chExt cx="4879975" cy="4740529"/>
          </a:xfrm>
        </p:grpSpPr>
        <p:sp>
          <p:nvSpPr>
            <p:cNvPr name="Freeform 8" id="8"/>
            <p:cNvSpPr/>
            <p:nvPr/>
          </p:nvSpPr>
          <p:spPr>
            <a:xfrm flipH="false" flipV="false" rot="0">
              <a:off x="63500" y="63500"/>
              <a:ext cx="4752340" cy="4613529"/>
            </a:xfrm>
            <a:custGeom>
              <a:avLst/>
              <a:gdLst/>
              <a:ahLst/>
              <a:cxnLst/>
              <a:rect r="r" b="b" t="t" l="l"/>
              <a:pathLst>
                <a:path h="4613529" w="4752340">
                  <a:moveTo>
                    <a:pt x="0" y="4613529"/>
                  </a:moveTo>
                  <a:lnTo>
                    <a:pt x="4752340" y="4613529"/>
                  </a:lnTo>
                  <a:lnTo>
                    <a:pt x="4752340" y="0"/>
                  </a:lnTo>
                  <a:lnTo>
                    <a:pt x="0" y="0"/>
                  </a:lnTo>
                  <a:close/>
                </a:path>
              </a:pathLst>
            </a:custGeom>
            <a:solidFill>
              <a:srgbClr val="C00000">
                <a:alpha val="0"/>
              </a:srgbClr>
            </a:solidFill>
          </p:spPr>
        </p:sp>
        <p:sp>
          <p:nvSpPr>
            <p:cNvPr name="Freeform 9" id="9"/>
            <p:cNvSpPr/>
            <p:nvPr/>
          </p:nvSpPr>
          <p:spPr>
            <a:xfrm flipH="false" flipV="false" rot="0">
              <a:off x="63500" y="63500"/>
              <a:ext cx="4752975" cy="4610100"/>
            </a:xfrm>
            <a:custGeom>
              <a:avLst/>
              <a:gdLst/>
              <a:ahLst/>
              <a:cxnLst/>
              <a:rect r="r" b="b" t="t" l="l"/>
              <a:pathLst>
                <a:path h="4610100" w="4752975">
                  <a:moveTo>
                    <a:pt x="0" y="4610100"/>
                  </a:moveTo>
                  <a:lnTo>
                    <a:pt x="4752975" y="4610100"/>
                  </a:lnTo>
                  <a:lnTo>
                    <a:pt x="4752975" y="0"/>
                  </a:lnTo>
                  <a:lnTo>
                    <a:pt x="0" y="0"/>
                  </a:lnTo>
                  <a:close/>
                </a:path>
              </a:pathLst>
            </a:custGeom>
            <a:solidFill>
              <a:srgbClr val="C00000">
                <a:alpha val="0"/>
              </a:srgbClr>
            </a:solidFill>
          </p:spPr>
        </p:sp>
      </p:grpSp>
      <p:sp>
        <p:nvSpPr>
          <p:cNvPr name="TextBox 10" id="10"/>
          <p:cNvSpPr txBox="true"/>
          <p:nvPr/>
        </p:nvSpPr>
        <p:spPr>
          <a:xfrm rot="0">
            <a:off x="7597826" y="-68885"/>
            <a:ext cx="3149222" cy="998220"/>
          </a:xfrm>
          <a:prstGeom prst="rect">
            <a:avLst/>
          </a:prstGeom>
        </p:spPr>
        <p:txBody>
          <a:bodyPr anchor="t" rtlCol="false" tIns="0" lIns="0" bIns="0" rIns="0">
            <a:spAutoFit/>
          </a:bodyPr>
          <a:lstStyle/>
          <a:p>
            <a:pPr algn="l">
              <a:lnSpc>
                <a:spcPts val="7559"/>
              </a:lnSpc>
            </a:pPr>
            <a:r>
              <a:rPr lang="en-US" b="true" sz="5400">
                <a:solidFill>
                  <a:srgbClr val="FFFFFF"/>
                </a:solidFill>
                <a:latin typeface="Arial Bold"/>
                <a:ea typeface="Arial Bold"/>
                <a:cs typeface="Arial Bold"/>
                <a:sym typeface="Arial Bold"/>
              </a:rPr>
              <a:t>Objective</a:t>
            </a:r>
          </a:p>
        </p:txBody>
      </p:sp>
      <p:sp>
        <p:nvSpPr>
          <p:cNvPr name="TextBox 11" id="11"/>
          <p:cNvSpPr txBox="true"/>
          <p:nvPr/>
        </p:nvSpPr>
        <p:spPr>
          <a:xfrm rot="0">
            <a:off x="1504960" y="2177005"/>
            <a:ext cx="15469152" cy="2221077"/>
          </a:xfrm>
          <a:prstGeom prst="rect">
            <a:avLst/>
          </a:prstGeom>
        </p:spPr>
        <p:txBody>
          <a:bodyPr anchor="t" rtlCol="false" tIns="0" lIns="0" bIns="0" rIns="0">
            <a:spAutoFit/>
          </a:bodyPr>
          <a:lstStyle/>
          <a:p>
            <a:pPr algn="l">
              <a:lnSpc>
                <a:spcPts val="4350"/>
              </a:lnSpc>
            </a:pPr>
            <a:r>
              <a:rPr lang="en-US" sz="3699">
                <a:solidFill>
                  <a:srgbClr val="C00000"/>
                </a:solidFill>
                <a:latin typeface="Archivo Black"/>
                <a:ea typeface="Archivo Black"/>
                <a:cs typeface="Archivo Black"/>
                <a:sym typeface="Archivo Black"/>
              </a:rPr>
              <a:t>To design and develop a Wildlife Sanctuary in Virtual Reality that simulates existing and extinct species in their natural habitats, aiming to enhance educational engagement and promote conservation awareness.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136647"/>
          </a:xfrm>
          <a:custGeom>
            <a:avLst/>
            <a:gdLst/>
            <a:ahLst/>
            <a:cxnLst/>
            <a:rect r="r" b="b" t="t" l="l"/>
            <a:pathLst>
              <a:path h="1136647" w="18288000">
                <a:moveTo>
                  <a:pt x="0" y="0"/>
                </a:moveTo>
                <a:lnTo>
                  <a:pt x="18288000" y="0"/>
                </a:lnTo>
                <a:lnTo>
                  <a:pt x="18288000" y="1136647"/>
                </a:lnTo>
                <a:lnTo>
                  <a:pt x="0" y="1136647"/>
                </a:lnTo>
                <a:lnTo>
                  <a:pt x="0" y="0"/>
                </a:lnTo>
                <a:close/>
              </a:path>
            </a:pathLst>
          </a:custGeom>
          <a:blipFill>
            <a:blip r:embed="rId2"/>
            <a:stretch>
              <a:fillRect l="-373" t="-5586" r="-355" b="0"/>
            </a:stretch>
          </a:blipFill>
        </p:spPr>
      </p:sp>
      <p:grpSp>
        <p:nvGrpSpPr>
          <p:cNvPr name="Group 3" id="3"/>
          <p:cNvGrpSpPr>
            <a:grpSpLocks noChangeAspect="true"/>
          </p:cNvGrpSpPr>
          <p:nvPr/>
        </p:nvGrpSpPr>
        <p:grpSpPr>
          <a:xfrm rot="0">
            <a:off x="0" y="0"/>
            <a:ext cx="18288000" cy="1137152"/>
            <a:chOff x="0" y="0"/>
            <a:chExt cx="18288000" cy="1137145"/>
          </a:xfrm>
        </p:grpSpPr>
        <p:sp>
          <p:nvSpPr>
            <p:cNvPr name="Freeform 4" id="4"/>
            <p:cNvSpPr/>
            <p:nvPr/>
          </p:nvSpPr>
          <p:spPr>
            <a:xfrm flipH="false" flipV="false" rot="0">
              <a:off x="0" y="0"/>
              <a:ext cx="18288000" cy="1137158"/>
            </a:xfrm>
            <a:custGeom>
              <a:avLst/>
              <a:gdLst/>
              <a:ahLst/>
              <a:cxnLst/>
              <a:rect r="r" b="b" t="t" l="l"/>
              <a:pathLst>
                <a:path h="1137158" w="18288000">
                  <a:moveTo>
                    <a:pt x="0" y="0"/>
                  </a:moveTo>
                  <a:lnTo>
                    <a:pt x="0" y="1137158"/>
                  </a:lnTo>
                  <a:lnTo>
                    <a:pt x="18288000" y="1137158"/>
                  </a:lnTo>
                  <a:lnTo>
                    <a:pt x="18288000" y="0"/>
                  </a:lnTo>
                  <a:close/>
                </a:path>
              </a:pathLst>
            </a:custGeom>
            <a:solidFill>
              <a:srgbClr val="C00000">
                <a:alpha val="0"/>
              </a:srgbClr>
            </a:solidFill>
          </p:spPr>
        </p:sp>
      </p:grpSp>
      <p:sp>
        <p:nvSpPr>
          <p:cNvPr name="Freeform 5" id="5"/>
          <p:cNvSpPr/>
          <p:nvPr/>
        </p:nvSpPr>
        <p:spPr>
          <a:xfrm flipH="false" flipV="false" rot="0">
            <a:off x="1350074" y="2438067"/>
            <a:ext cx="261699" cy="261699"/>
          </a:xfrm>
          <a:custGeom>
            <a:avLst/>
            <a:gdLst/>
            <a:ahLst/>
            <a:cxnLst/>
            <a:rect r="r" b="b" t="t" l="l"/>
            <a:pathLst>
              <a:path h="261699" w="261699">
                <a:moveTo>
                  <a:pt x="0" y="0"/>
                </a:moveTo>
                <a:lnTo>
                  <a:pt x="261699" y="0"/>
                </a:lnTo>
                <a:lnTo>
                  <a:pt x="261699" y="261699"/>
                </a:lnTo>
                <a:lnTo>
                  <a:pt x="0" y="2616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50074" y="4747317"/>
            <a:ext cx="261699" cy="261699"/>
          </a:xfrm>
          <a:custGeom>
            <a:avLst/>
            <a:gdLst/>
            <a:ahLst/>
            <a:cxnLst/>
            <a:rect r="r" b="b" t="t" l="l"/>
            <a:pathLst>
              <a:path h="261699" w="261699">
                <a:moveTo>
                  <a:pt x="0" y="0"/>
                </a:moveTo>
                <a:lnTo>
                  <a:pt x="261699" y="0"/>
                </a:lnTo>
                <a:lnTo>
                  <a:pt x="261699" y="261700"/>
                </a:lnTo>
                <a:lnTo>
                  <a:pt x="0" y="2617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50074" y="6479248"/>
            <a:ext cx="261699" cy="261699"/>
          </a:xfrm>
          <a:custGeom>
            <a:avLst/>
            <a:gdLst/>
            <a:ahLst/>
            <a:cxnLst/>
            <a:rect r="r" b="b" t="t" l="l"/>
            <a:pathLst>
              <a:path h="261699" w="261699">
                <a:moveTo>
                  <a:pt x="0" y="0"/>
                </a:moveTo>
                <a:lnTo>
                  <a:pt x="261699" y="0"/>
                </a:lnTo>
                <a:lnTo>
                  <a:pt x="261699" y="261699"/>
                </a:lnTo>
                <a:lnTo>
                  <a:pt x="0" y="261699"/>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902081" y="-23927"/>
            <a:ext cx="6608369" cy="998220"/>
          </a:xfrm>
          <a:prstGeom prst="rect">
            <a:avLst/>
          </a:prstGeom>
        </p:spPr>
        <p:txBody>
          <a:bodyPr anchor="t" rtlCol="false" tIns="0" lIns="0" bIns="0" rIns="0">
            <a:spAutoFit/>
          </a:bodyPr>
          <a:lstStyle/>
          <a:p>
            <a:pPr algn="l">
              <a:lnSpc>
                <a:spcPts val="7559"/>
              </a:lnSpc>
            </a:pPr>
            <a:r>
              <a:rPr lang="en-US" b="true" sz="5400">
                <a:solidFill>
                  <a:srgbClr val="FFFFFF"/>
                </a:solidFill>
                <a:latin typeface="Arial Bold"/>
                <a:ea typeface="Arial Bold"/>
                <a:cs typeface="Arial Bold"/>
                <a:sym typeface="Arial Bold"/>
              </a:rPr>
              <a:t>Project Description </a:t>
            </a:r>
          </a:p>
        </p:txBody>
      </p:sp>
      <p:sp>
        <p:nvSpPr>
          <p:cNvPr name="TextBox 9" id="9"/>
          <p:cNvSpPr txBox="true"/>
          <p:nvPr/>
        </p:nvSpPr>
        <p:spPr>
          <a:xfrm rot="0">
            <a:off x="1740265" y="2252358"/>
            <a:ext cx="15021735" cy="1664493"/>
          </a:xfrm>
          <a:prstGeom prst="rect">
            <a:avLst/>
          </a:prstGeom>
        </p:spPr>
        <p:txBody>
          <a:bodyPr anchor="t" rtlCol="false" tIns="0" lIns="0" bIns="0" rIns="0">
            <a:spAutoFit/>
          </a:bodyPr>
          <a:lstStyle/>
          <a:p>
            <a:pPr algn="l">
              <a:lnSpc>
                <a:spcPts val="4498"/>
              </a:lnSpc>
            </a:pPr>
            <a:r>
              <a:rPr lang="en-US" sz="3295" spc="23">
                <a:solidFill>
                  <a:srgbClr val="000000"/>
                </a:solidFill>
                <a:latin typeface="Glacial Indifference"/>
                <a:ea typeface="Glacial Indifference"/>
                <a:cs typeface="Glacial Indifference"/>
                <a:sym typeface="Glacial Indifference"/>
              </a:rPr>
              <a:t>This project provides features such as the realistic simulation of animal behaviors, interaction with virtual environments, and exploration of natural habitats for existing and extinct species</a:t>
            </a:r>
          </a:p>
        </p:txBody>
      </p:sp>
      <p:sp>
        <p:nvSpPr>
          <p:cNvPr name="TextBox 10" id="10"/>
          <p:cNvSpPr txBox="true"/>
          <p:nvPr/>
        </p:nvSpPr>
        <p:spPr>
          <a:xfrm rot="0">
            <a:off x="1740265" y="4199658"/>
            <a:ext cx="14527425" cy="1522266"/>
          </a:xfrm>
          <a:prstGeom prst="rect">
            <a:avLst/>
          </a:prstGeom>
        </p:spPr>
        <p:txBody>
          <a:bodyPr anchor="t" rtlCol="false" tIns="0" lIns="0" bIns="0" rIns="0">
            <a:spAutoFit/>
          </a:bodyPr>
          <a:lstStyle/>
          <a:p>
            <a:pPr algn="l">
              <a:lnSpc>
                <a:spcPts val="8238"/>
              </a:lnSpc>
            </a:pPr>
            <a:r>
              <a:rPr lang="en-US" sz="3295" spc="29">
                <a:solidFill>
                  <a:srgbClr val="000000"/>
                </a:solidFill>
                <a:latin typeface="Glacial Indifference"/>
                <a:ea typeface="Glacial Indifference"/>
                <a:cs typeface="Glacial Indifference"/>
                <a:sym typeface="Glacial Indifference"/>
              </a:rPr>
              <a:t>The system integrates techniques such as 3D modeling in Blender, VR</a:t>
            </a:r>
          </a:p>
          <a:p>
            <a:pPr algn="l">
              <a:lnSpc>
                <a:spcPts val="1647"/>
              </a:lnSpc>
            </a:pPr>
            <a:r>
              <a:rPr lang="en-US" sz="3295" spc="29">
                <a:solidFill>
                  <a:srgbClr val="000000"/>
                </a:solidFill>
                <a:latin typeface="Glacial Indifference"/>
                <a:ea typeface="Glacial Indifference"/>
                <a:cs typeface="Glacial Indifference"/>
                <a:sym typeface="Glacial Indifference"/>
              </a:rPr>
              <a:t>interaction via XR Toolkit, and scripting in C# for seamless functionality.</a:t>
            </a:r>
          </a:p>
        </p:txBody>
      </p:sp>
      <p:sp>
        <p:nvSpPr>
          <p:cNvPr name="TextBox 11" id="11"/>
          <p:cNvSpPr txBox="true"/>
          <p:nvPr/>
        </p:nvSpPr>
        <p:spPr>
          <a:xfrm rot="0">
            <a:off x="1740265" y="5931599"/>
            <a:ext cx="15760246" cy="2093480"/>
          </a:xfrm>
          <a:prstGeom prst="rect">
            <a:avLst/>
          </a:prstGeom>
        </p:spPr>
        <p:txBody>
          <a:bodyPr anchor="t" rtlCol="false" tIns="0" lIns="0" bIns="0" rIns="0">
            <a:spAutoFit/>
          </a:bodyPr>
          <a:lstStyle/>
          <a:p>
            <a:pPr algn="l">
              <a:lnSpc>
                <a:spcPts val="8238"/>
              </a:lnSpc>
            </a:pPr>
            <a:r>
              <a:rPr lang="en-US" sz="3295" spc="29">
                <a:solidFill>
                  <a:srgbClr val="000000"/>
                </a:solidFill>
                <a:latin typeface="Glacial Indifference"/>
                <a:ea typeface="Glacial Indifference"/>
                <a:cs typeface="Glacial Indifference"/>
                <a:sym typeface="Glacial Indifference"/>
              </a:rPr>
              <a:t>The system ensures high immersion and accuracy through detailed visual</a:t>
            </a:r>
          </a:p>
          <a:p>
            <a:pPr algn="l">
              <a:lnSpc>
                <a:spcPts val="1647"/>
              </a:lnSpc>
            </a:pPr>
            <a:r>
              <a:rPr lang="en-US" sz="3295" spc="29">
                <a:solidFill>
                  <a:srgbClr val="000000"/>
                </a:solidFill>
                <a:latin typeface="Glacial Indifference"/>
                <a:ea typeface="Glacial Indifference"/>
                <a:cs typeface="Glacial Indifference"/>
                <a:sym typeface="Glacial Indifference"/>
              </a:rPr>
              <a:t>elements, optimized assets, and realistic environmental responses using Unity</a:t>
            </a:r>
          </a:p>
          <a:p>
            <a:pPr algn="l">
              <a:lnSpc>
                <a:spcPts val="7352"/>
              </a:lnSpc>
            </a:pPr>
            <a:r>
              <a:rPr lang="en-US" sz="3295" spc="29">
                <a:solidFill>
                  <a:srgbClr val="000000"/>
                </a:solidFill>
                <a:latin typeface="Glacial Indifference"/>
                <a:ea typeface="Glacial Indifference"/>
                <a:cs typeface="Glacial Indifference"/>
                <a:sym typeface="Glacial Indifference"/>
              </a:rPr>
              <a:t>and Oculus Quest 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91689"/>
          </a:xfrm>
          <a:custGeom>
            <a:avLst/>
            <a:gdLst/>
            <a:ahLst/>
            <a:cxnLst/>
            <a:rect r="r" b="b" t="t" l="l"/>
            <a:pathLst>
              <a:path h="1091689" w="18288000">
                <a:moveTo>
                  <a:pt x="0" y="0"/>
                </a:moveTo>
                <a:lnTo>
                  <a:pt x="18288000" y="0"/>
                </a:lnTo>
                <a:lnTo>
                  <a:pt x="18288000" y="1091689"/>
                </a:lnTo>
                <a:lnTo>
                  <a:pt x="0" y="1091689"/>
                </a:lnTo>
                <a:lnTo>
                  <a:pt x="0" y="0"/>
                </a:lnTo>
                <a:close/>
              </a:path>
            </a:pathLst>
          </a:custGeom>
          <a:blipFill>
            <a:blip r:embed="rId2"/>
            <a:stretch>
              <a:fillRect l="-373" t="-9935" r="-355" b="0"/>
            </a:stretch>
          </a:blipFill>
        </p:spPr>
      </p:sp>
      <p:grpSp>
        <p:nvGrpSpPr>
          <p:cNvPr name="Group 3" id="3"/>
          <p:cNvGrpSpPr>
            <a:grpSpLocks noChangeAspect="true"/>
          </p:cNvGrpSpPr>
          <p:nvPr/>
        </p:nvGrpSpPr>
        <p:grpSpPr>
          <a:xfrm rot="0">
            <a:off x="0" y="0"/>
            <a:ext cx="18288000" cy="1092194"/>
            <a:chOff x="0" y="0"/>
            <a:chExt cx="18288000" cy="1092187"/>
          </a:xfrm>
        </p:grpSpPr>
        <p:sp>
          <p:nvSpPr>
            <p:cNvPr name="Freeform 4" id="4"/>
            <p:cNvSpPr/>
            <p:nvPr/>
          </p:nvSpPr>
          <p:spPr>
            <a:xfrm flipH="false" flipV="false" rot="0">
              <a:off x="0" y="0"/>
              <a:ext cx="18288000" cy="1092200"/>
            </a:xfrm>
            <a:custGeom>
              <a:avLst/>
              <a:gdLst/>
              <a:ahLst/>
              <a:cxnLst/>
              <a:rect r="r" b="b" t="t" l="l"/>
              <a:pathLst>
                <a:path h="1092200" w="18288000">
                  <a:moveTo>
                    <a:pt x="0" y="0"/>
                  </a:moveTo>
                  <a:lnTo>
                    <a:pt x="0" y="1092200"/>
                  </a:lnTo>
                  <a:lnTo>
                    <a:pt x="18288000" y="1092200"/>
                  </a:lnTo>
                  <a:lnTo>
                    <a:pt x="18288000" y="0"/>
                  </a:lnTo>
                  <a:close/>
                </a:path>
              </a:pathLst>
            </a:custGeom>
            <a:solidFill>
              <a:srgbClr val="C00000">
                <a:alpha val="0"/>
              </a:srgbClr>
            </a:solidFill>
          </p:spPr>
        </p:sp>
      </p:grpSp>
      <p:sp>
        <p:nvSpPr>
          <p:cNvPr name="TextBox 5" id="5"/>
          <p:cNvSpPr txBox="true"/>
          <p:nvPr/>
        </p:nvSpPr>
        <p:spPr>
          <a:xfrm rot="0">
            <a:off x="5997778" y="-68885"/>
            <a:ext cx="6413297" cy="998220"/>
          </a:xfrm>
          <a:prstGeom prst="rect">
            <a:avLst/>
          </a:prstGeom>
        </p:spPr>
        <p:txBody>
          <a:bodyPr anchor="t" rtlCol="false" tIns="0" lIns="0" bIns="0" rIns="0">
            <a:spAutoFit/>
          </a:bodyPr>
          <a:lstStyle/>
          <a:p>
            <a:pPr algn="l">
              <a:lnSpc>
                <a:spcPts val="7559"/>
              </a:lnSpc>
            </a:pPr>
            <a:r>
              <a:rPr lang="en-US" b="true" sz="5400">
                <a:solidFill>
                  <a:srgbClr val="FFFFFF"/>
                </a:solidFill>
                <a:latin typeface="Arial Bold"/>
                <a:ea typeface="Arial Bold"/>
                <a:cs typeface="Arial Bold"/>
                <a:sym typeface="Arial Bold"/>
              </a:rPr>
              <a:t>Problem Definition </a:t>
            </a:r>
          </a:p>
        </p:txBody>
      </p:sp>
      <p:sp>
        <p:nvSpPr>
          <p:cNvPr name="TextBox 6" id="6"/>
          <p:cNvSpPr txBox="true"/>
          <p:nvPr/>
        </p:nvSpPr>
        <p:spPr>
          <a:xfrm rot="0">
            <a:off x="1086565" y="2750963"/>
            <a:ext cx="16235724" cy="3739311"/>
          </a:xfrm>
          <a:prstGeom prst="rect">
            <a:avLst/>
          </a:prstGeom>
        </p:spPr>
        <p:txBody>
          <a:bodyPr anchor="t" rtlCol="false" tIns="0" lIns="0" bIns="0" rIns="0">
            <a:spAutoFit/>
          </a:bodyPr>
          <a:lstStyle/>
          <a:p>
            <a:pPr algn="just" marL="669236" indent="-334618" lvl="1">
              <a:lnSpc>
                <a:spcPts val="3676"/>
              </a:lnSpc>
              <a:buFont typeface="Arial"/>
              <a:buChar char="•"/>
            </a:pPr>
            <a:r>
              <a:rPr lang="en-US" sz="3099" spc="27">
                <a:solidFill>
                  <a:srgbClr val="000000"/>
                </a:solidFill>
                <a:latin typeface="Glacial Indifference"/>
                <a:ea typeface="Glacial Indifference"/>
                <a:cs typeface="Glacial Indifference"/>
                <a:sym typeface="Glacial Indifference"/>
              </a:rPr>
              <a:t>Existing Wildlife Sanctuary in Virtual Reality systems oversimplify animal behavior and environmental interactions, leading to a lack of realism and immersion in simulations. Current VR-based habitat simulations fail to capture the dynamic</a:t>
            </a:r>
          </a:p>
          <a:p>
            <a:pPr algn="just">
              <a:lnSpc>
                <a:spcPts val="3676"/>
              </a:lnSpc>
            </a:pPr>
          </a:p>
          <a:p>
            <a:pPr algn="just" marL="669236" indent="-334618" lvl="1">
              <a:lnSpc>
                <a:spcPts val="3676"/>
              </a:lnSpc>
              <a:buFont typeface="Arial"/>
              <a:buChar char="•"/>
            </a:pPr>
            <a:r>
              <a:rPr lang="en-US" sz="3099" spc="27">
                <a:solidFill>
                  <a:srgbClr val="000000"/>
                </a:solidFill>
                <a:latin typeface="Glacial Indifference"/>
                <a:ea typeface="Glacial Indifference"/>
                <a:cs typeface="Glacial Indifference"/>
                <a:sym typeface="Glacial Indifference"/>
              </a:rPr>
              <a:t>U</a:t>
            </a:r>
            <a:r>
              <a:rPr lang="en-US" sz="3099" spc="27">
                <a:solidFill>
                  <a:srgbClr val="000000"/>
                </a:solidFill>
                <a:latin typeface="Glacial Indifference"/>
                <a:ea typeface="Glacial Indifference"/>
                <a:cs typeface="Glacial Indifference"/>
                <a:sym typeface="Glacial Indifference"/>
              </a:rPr>
              <a:t>npredictable nature of animal behavior, limiting their effectiveness for education and research. Many systems do not fully utilize the potential of extinct and endangered species, reducing their value for interdisciplinary studies like bio-inspired robotics and ethical research.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91689"/>
          </a:xfrm>
          <a:custGeom>
            <a:avLst/>
            <a:gdLst/>
            <a:ahLst/>
            <a:cxnLst/>
            <a:rect r="r" b="b" t="t" l="l"/>
            <a:pathLst>
              <a:path h="1091689" w="18288000">
                <a:moveTo>
                  <a:pt x="0" y="0"/>
                </a:moveTo>
                <a:lnTo>
                  <a:pt x="18288000" y="0"/>
                </a:lnTo>
                <a:lnTo>
                  <a:pt x="18288000" y="1091689"/>
                </a:lnTo>
                <a:lnTo>
                  <a:pt x="0" y="1091689"/>
                </a:lnTo>
                <a:lnTo>
                  <a:pt x="0" y="0"/>
                </a:lnTo>
                <a:close/>
              </a:path>
            </a:pathLst>
          </a:custGeom>
          <a:blipFill>
            <a:blip r:embed="rId2"/>
            <a:stretch>
              <a:fillRect l="-347" t="-9935" r="-381" b="0"/>
            </a:stretch>
          </a:blipFill>
        </p:spPr>
      </p:sp>
      <p:grpSp>
        <p:nvGrpSpPr>
          <p:cNvPr name="Group 3" id="3"/>
          <p:cNvGrpSpPr>
            <a:grpSpLocks noChangeAspect="true"/>
          </p:cNvGrpSpPr>
          <p:nvPr/>
        </p:nvGrpSpPr>
        <p:grpSpPr>
          <a:xfrm rot="0">
            <a:off x="0" y="0"/>
            <a:ext cx="18288000" cy="1092194"/>
            <a:chOff x="0" y="0"/>
            <a:chExt cx="18288000" cy="1092187"/>
          </a:xfrm>
        </p:grpSpPr>
        <p:sp>
          <p:nvSpPr>
            <p:cNvPr name="Freeform 4" id="4"/>
            <p:cNvSpPr/>
            <p:nvPr/>
          </p:nvSpPr>
          <p:spPr>
            <a:xfrm flipH="false" flipV="false" rot="0">
              <a:off x="0" y="0"/>
              <a:ext cx="18288000" cy="1092200"/>
            </a:xfrm>
            <a:custGeom>
              <a:avLst/>
              <a:gdLst/>
              <a:ahLst/>
              <a:cxnLst/>
              <a:rect r="r" b="b" t="t" l="l"/>
              <a:pathLst>
                <a:path h="1092200" w="18288000">
                  <a:moveTo>
                    <a:pt x="0" y="0"/>
                  </a:moveTo>
                  <a:lnTo>
                    <a:pt x="0" y="1092200"/>
                  </a:lnTo>
                  <a:lnTo>
                    <a:pt x="18288000" y="1092200"/>
                  </a:lnTo>
                  <a:lnTo>
                    <a:pt x="18288000" y="0"/>
                  </a:lnTo>
                  <a:close/>
                </a:path>
              </a:pathLst>
            </a:custGeom>
            <a:solidFill>
              <a:srgbClr val="C00000">
                <a:alpha val="0"/>
              </a:srgbClr>
            </a:solidFill>
          </p:spPr>
        </p:sp>
      </p:grpSp>
      <p:sp>
        <p:nvSpPr>
          <p:cNvPr name="TextBox 5" id="5"/>
          <p:cNvSpPr txBox="true"/>
          <p:nvPr/>
        </p:nvSpPr>
        <p:spPr>
          <a:xfrm rot="0">
            <a:off x="6002541" y="-68885"/>
            <a:ext cx="6413297" cy="998220"/>
          </a:xfrm>
          <a:prstGeom prst="rect">
            <a:avLst/>
          </a:prstGeom>
        </p:spPr>
        <p:txBody>
          <a:bodyPr anchor="t" rtlCol="false" tIns="0" lIns="0" bIns="0" rIns="0">
            <a:spAutoFit/>
          </a:bodyPr>
          <a:lstStyle/>
          <a:p>
            <a:pPr algn="l">
              <a:lnSpc>
                <a:spcPts val="7559"/>
              </a:lnSpc>
            </a:pPr>
            <a:r>
              <a:rPr lang="en-US" b="true" sz="5400">
                <a:solidFill>
                  <a:srgbClr val="FFFFFF"/>
                </a:solidFill>
                <a:latin typeface="Arial Bold"/>
                <a:ea typeface="Arial Bold"/>
                <a:cs typeface="Arial Bold"/>
                <a:sym typeface="Arial Bold"/>
              </a:rPr>
              <a:t>Proposed Solution </a:t>
            </a:r>
          </a:p>
        </p:txBody>
      </p:sp>
      <p:sp>
        <p:nvSpPr>
          <p:cNvPr name="TextBox 6" id="6"/>
          <p:cNvSpPr txBox="true"/>
          <p:nvPr/>
        </p:nvSpPr>
        <p:spPr>
          <a:xfrm rot="0">
            <a:off x="1350102" y="2756478"/>
            <a:ext cx="15909198" cy="3739311"/>
          </a:xfrm>
          <a:prstGeom prst="rect">
            <a:avLst/>
          </a:prstGeom>
        </p:spPr>
        <p:txBody>
          <a:bodyPr anchor="t" rtlCol="false" tIns="0" lIns="0" bIns="0" rIns="0">
            <a:spAutoFit/>
          </a:bodyPr>
          <a:lstStyle/>
          <a:p>
            <a:pPr algn="just" marL="669236" indent="-334618" lvl="1">
              <a:lnSpc>
                <a:spcPts val="3676"/>
              </a:lnSpc>
              <a:buFont typeface="Arial"/>
              <a:buChar char="•"/>
            </a:pPr>
            <a:r>
              <a:rPr lang="en-US" sz="3099" spc="9">
                <a:solidFill>
                  <a:srgbClr val="000000"/>
                </a:solidFill>
                <a:latin typeface="Glacial Indifference"/>
                <a:ea typeface="Glacial Indifference"/>
                <a:cs typeface="Glacial Indifference"/>
                <a:sym typeface="Glacial Indifference"/>
              </a:rPr>
              <a:t>Create an interactive Wildlife Sanctuary in Virtual Reality  with realistic animal behaviors using AI models and real-time environmental interactions. Utilize Blender for high-quality 3D modeling and XR Toolkit in Unity for seamless VR integration,</a:t>
            </a:r>
          </a:p>
          <a:p>
            <a:pPr algn="just">
              <a:lnSpc>
                <a:spcPts val="3676"/>
              </a:lnSpc>
            </a:pPr>
          </a:p>
          <a:p>
            <a:pPr algn="just" marL="669236" indent="-334618" lvl="1">
              <a:lnSpc>
                <a:spcPts val="3676"/>
              </a:lnSpc>
              <a:buFont typeface="Arial"/>
              <a:buChar char="•"/>
            </a:pPr>
            <a:r>
              <a:rPr lang="en-US" sz="3099" spc="9">
                <a:solidFill>
                  <a:srgbClr val="000000"/>
                </a:solidFill>
                <a:latin typeface="Glacial Indifference"/>
                <a:ea typeface="Glacial Indifference"/>
                <a:cs typeface="Glacial Indifference"/>
                <a:sym typeface="Glacial Indifference"/>
              </a:rPr>
              <a:t>Optimized for Oculus Quest 2. Simulate dynamic animal behaviors using reinforcement learning to enhance realism and unpredictability. Enable interactive user feedback to trigger specific animal behaviors and provide educational data for interdisciplinary research.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84247"/>
          </a:xfrm>
          <a:custGeom>
            <a:avLst/>
            <a:gdLst/>
            <a:ahLst/>
            <a:cxnLst/>
            <a:rect r="r" b="b" t="t" l="l"/>
            <a:pathLst>
              <a:path h="984247" w="18288000">
                <a:moveTo>
                  <a:pt x="0" y="0"/>
                </a:moveTo>
                <a:lnTo>
                  <a:pt x="18288000" y="0"/>
                </a:lnTo>
                <a:lnTo>
                  <a:pt x="18288000" y="984247"/>
                </a:lnTo>
                <a:lnTo>
                  <a:pt x="0" y="984247"/>
                </a:lnTo>
                <a:lnTo>
                  <a:pt x="0" y="0"/>
                </a:lnTo>
                <a:close/>
              </a:path>
            </a:pathLst>
          </a:custGeom>
          <a:blipFill>
            <a:blip r:embed="rId2"/>
            <a:stretch>
              <a:fillRect l="-360" t="-6451" r="-368" b="0"/>
            </a:stretch>
          </a:blipFill>
        </p:spPr>
      </p:sp>
      <p:sp>
        <p:nvSpPr>
          <p:cNvPr name="Freeform 3" id="3"/>
          <p:cNvSpPr/>
          <p:nvPr/>
        </p:nvSpPr>
        <p:spPr>
          <a:xfrm flipH="false" flipV="false" rot="0">
            <a:off x="1520171" y="3359925"/>
            <a:ext cx="15249525" cy="5048250"/>
          </a:xfrm>
          <a:custGeom>
            <a:avLst/>
            <a:gdLst/>
            <a:ahLst/>
            <a:cxnLst/>
            <a:rect r="r" b="b" t="t" l="l"/>
            <a:pathLst>
              <a:path h="5048250" w="15249525">
                <a:moveTo>
                  <a:pt x="0" y="0"/>
                </a:moveTo>
                <a:lnTo>
                  <a:pt x="15249525" y="0"/>
                </a:lnTo>
                <a:lnTo>
                  <a:pt x="15249525" y="5048250"/>
                </a:lnTo>
                <a:lnTo>
                  <a:pt x="0" y="5048250"/>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0" y="0"/>
            <a:ext cx="18288000" cy="980275"/>
            <a:chOff x="0" y="0"/>
            <a:chExt cx="18288000" cy="980275"/>
          </a:xfrm>
        </p:grpSpPr>
        <p:sp>
          <p:nvSpPr>
            <p:cNvPr name="Freeform 5" id="5"/>
            <p:cNvSpPr/>
            <p:nvPr/>
          </p:nvSpPr>
          <p:spPr>
            <a:xfrm flipH="false" flipV="false" rot="0">
              <a:off x="0" y="0"/>
              <a:ext cx="18288000" cy="980313"/>
            </a:xfrm>
            <a:custGeom>
              <a:avLst/>
              <a:gdLst/>
              <a:ahLst/>
              <a:cxnLst/>
              <a:rect r="r" b="b" t="t" l="l"/>
              <a:pathLst>
                <a:path h="980313" w="18288000">
                  <a:moveTo>
                    <a:pt x="0" y="0"/>
                  </a:moveTo>
                  <a:lnTo>
                    <a:pt x="0" y="980313"/>
                  </a:lnTo>
                  <a:lnTo>
                    <a:pt x="18288000" y="980313"/>
                  </a:lnTo>
                  <a:lnTo>
                    <a:pt x="18288000" y="0"/>
                  </a:lnTo>
                  <a:close/>
                </a:path>
              </a:pathLst>
            </a:custGeom>
            <a:solidFill>
              <a:srgbClr val="C00000">
                <a:alpha val="0"/>
              </a:srgbClr>
            </a:solidFill>
          </p:spPr>
        </p:sp>
      </p:grpSp>
      <p:grpSp>
        <p:nvGrpSpPr>
          <p:cNvPr name="Group 6" id="6"/>
          <p:cNvGrpSpPr>
            <a:grpSpLocks noChangeAspect="true"/>
          </p:cNvGrpSpPr>
          <p:nvPr/>
        </p:nvGrpSpPr>
        <p:grpSpPr>
          <a:xfrm rot="0">
            <a:off x="1520171" y="3359925"/>
            <a:ext cx="15247658" cy="5044373"/>
            <a:chOff x="0" y="0"/>
            <a:chExt cx="15247658" cy="5044376"/>
          </a:xfrm>
        </p:grpSpPr>
        <p:sp>
          <p:nvSpPr>
            <p:cNvPr name="Freeform 7" id="7"/>
            <p:cNvSpPr/>
            <p:nvPr/>
          </p:nvSpPr>
          <p:spPr>
            <a:xfrm flipH="false" flipV="false" rot="0">
              <a:off x="0" y="0"/>
              <a:ext cx="15247620" cy="5044313"/>
            </a:xfrm>
            <a:custGeom>
              <a:avLst/>
              <a:gdLst/>
              <a:ahLst/>
              <a:cxnLst/>
              <a:rect r="r" b="b" t="t" l="l"/>
              <a:pathLst>
                <a:path h="5044313" w="15247620">
                  <a:moveTo>
                    <a:pt x="0" y="5044313"/>
                  </a:moveTo>
                  <a:lnTo>
                    <a:pt x="15247620" y="5044313"/>
                  </a:lnTo>
                  <a:lnTo>
                    <a:pt x="15247620" y="0"/>
                  </a:lnTo>
                  <a:lnTo>
                    <a:pt x="0" y="0"/>
                  </a:lnTo>
                  <a:close/>
                </a:path>
              </a:pathLst>
            </a:custGeom>
            <a:solidFill>
              <a:srgbClr val="C00000">
                <a:alpha val="0"/>
              </a:srgbClr>
            </a:solidFill>
          </p:spPr>
        </p:sp>
      </p:grpSp>
      <p:sp>
        <p:nvSpPr>
          <p:cNvPr name="TextBox 8" id="8"/>
          <p:cNvSpPr txBox="true"/>
          <p:nvPr/>
        </p:nvSpPr>
        <p:spPr>
          <a:xfrm rot="0">
            <a:off x="2640206" y="3369459"/>
            <a:ext cx="1204760"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Blender</a:t>
            </a:r>
          </a:p>
        </p:txBody>
      </p:sp>
      <p:sp>
        <p:nvSpPr>
          <p:cNvPr name="TextBox 9" id="9"/>
          <p:cNvSpPr txBox="true"/>
          <p:nvPr/>
        </p:nvSpPr>
        <p:spPr>
          <a:xfrm rot="0">
            <a:off x="1888322" y="4341009"/>
            <a:ext cx="2738828"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Unity (XR Toolkit)</a:t>
            </a:r>
          </a:p>
        </p:txBody>
      </p:sp>
      <p:sp>
        <p:nvSpPr>
          <p:cNvPr name="TextBox 10" id="10"/>
          <p:cNvSpPr txBox="true"/>
          <p:nvPr/>
        </p:nvSpPr>
        <p:spPr>
          <a:xfrm rot="0">
            <a:off x="3011824" y="5326390"/>
            <a:ext cx="446827"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C#</a:t>
            </a:r>
          </a:p>
        </p:txBody>
      </p:sp>
      <p:sp>
        <p:nvSpPr>
          <p:cNvPr name="TextBox 11" id="11"/>
          <p:cNvSpPr txBox="true"/>
          <p:nvPr/>
        </p:nvSpPr>
        <p:spPr>
          <a:xfrm rot="0">
            <a:off x="1973599" y="6301330"/>
            <a:ext cx="2564740"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Oculus Software</a:t>
            </a:r>
          </a:p>
        </p:txBody>
      </p:sp>
      <p:sp>
        <p:nvSpPr>
          <p:cNvPr name="TextBox 12" id="12"/>
          <p:cNvSpPr txBox="true"/>
          <p:nvPr/>
        </p:nvSpPr>
        <p:spPr>
          <a:xfrm rot="0">
            <a:off x="3011824" y="7272880"/>
            <a:ext cx="446808"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Git</a:t>
            </a:r>
          </a:p>
        </p:txBody>
      </p:sp>
      <p:sp>
        <p:nvSpPr>
          <p:cNvPr name="TextBox 13" id="13"/>
          <p:cNvSpPr txBox="true"/>
          <p:nvPr/>
        </p:nvSpPr>
        <p:spPr>
          <a:xfrm rot="0">
            <a:off x="5651516" y="3430876"/>
            <a:ext cx="5732669"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For 3D asset creation and animation.</a:t>
            </a:r>
          </a:p>
        </p:txBody>
      </p:sp>
      <p:sp>
        <p:nvSpPr>
          <p:cNvPr name="TextBox 14" id="14"/>
          <p:cNvSpPr txBox="true"/>
          <p:nvPr/>
        </p:nvSpPr>
        <p:spPr>
          <a:xfrm rot="0">
            <a:off x="5651516" y="4402426"/>
            <a:ext cx="7481221"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For VR environment integration and interactivity.</a:t>
            </a:r>
          </a:p>
        </p:txBody>
      </p:sp>
      <p:sp>
        <p:nvSpPr>
          <p:cNvPr name="TextBox 15" id="15"/>
          <p:cNvSpPr txBox="true"/>
          <p:nvPr/>
        </p:nvSpPr>
        <p:spPr>
          <a:xfrm rot="0">
            <a:off x="5651516" y="5387807"/>
            <a:ext cx="8005820"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 For scripting animal behaviors and VR interactions.</a:t>
            </a:r>
          </a:p>
        </p:txBody>
      </p:sp>
      <p:sp>
        <p:nvSpPr>
          <p:cNvPr name="TextBox 16" id="16"/>
          <p:cNvSpPr txBox="true"/>
          <p:nvPr/>
        </p:nvSpPr>
        <p:spPr>
          <a:xfrm rot="0">
            <a:off x="5651516" y="6362748"/>
            <a:ext cx="7501023"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For Oculus Quest 2 integration and optimization.</a:t>
            </a:r>
          </a:p>
        </p:txBody>
      </p:sp>
      <p:sp>
        <p:nvSpPr>
          <p:cNvPr name="TextBox 17" id="17"/>
          <p:cNvSpPr txBox="true"/>
          <p:nvPr/>
        </p:nvSpPr>
        <p:spPr>
          <a:xfrm rot="0">
            <a:off x="5651516" y="7334298"/>
            <a:ext cx="5752138"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For version control and collaboration.</a:t>
            </a:r>
          </a:p>
        </p:txBody>
      </p:sp>
      <p:sp>
        <p:nvSpPr>
          <p:cNvPr name="TextBox 18" id="18"/>
          <p:cNvSpPr txBox="true"/>
          <p:nvPr/>
        </p:nvSpPr>
        <p:spPr>
          <a:xfrm rot="0">
            <a:off x="5059194" y="-28280"/>
            <a:ext cx="7977578" cy="89154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Arial Bold"/>
                <a:ea typeface="Arial Bold"/>
                <a:cs typeface="Arial Bold"/>
                <a:sym typeface="Arial Bold"/>
              </a:rPr>
              <a:t>Requirement Specification</a:t>
            </a:r>
          </a:p>
        </p:txBody>
      </p:sp>
      <p:sp>
        <p:nvSpPr>
          <p:cNvPr name="TextBox 19" id="19"/>
          <p:cNvSpPr txBox="true"/>
          <p:nvPr/>
        </p:nvSpPr>
        <p:spPr>
          <a:xfrm rot="0">
            <a:off x="1583674" y="2267226"/>
            <a:ext cx="2023872" cy="683228"/>
          </a:xfrm>
          <a:prstGeom prst="rect">
            <a:avLst/>
          </a:prstGeom>
        </p:spPr>
        <p:txBody>
          <a:bodyPr anchor="t" rtlCol="false" tIns="0" lIns="0" bIns="0" rIns="0">
            <a:spAutoFit/>
          </a:bodyPr>
          <a:lstStyle/>
          <a:p>
            <a:pPr algn="l">
              <a:lnSpc>
                <a:spcPts val="5179"/>
              </a:lnSpc>
            </a:pPr>
            <a:r>
              <a:rPr lang="en-US" b="true" sz="3699">
                <a:solidFill>
                  <a:srgbClr val="C00000"/>
                </a:solidFill>
                <a:latin typeface="Arial Bold"/>
                <a:ea typeface="Arial Bold"/>
                <a:cs typeface="Arial Bold"/>
                <a:sym typeface="Arial Bold"/>
              </a:rPr>
              <a:t>Software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84247"/>
          </a:xfrm>
          <a:custGeom>
            <a:avLst/>
            <a:gdLst/>
            <a:ahLst/>
            <a:cxnLst/>
            <a:rect r="r" b="b" t="t" l="l"/>
            <a:pathLst>
              <a:path h="984247" w="18288000">
                <a:moveTo>
                  <a:pt x="0" y="0"/>
                </a:moveTo>
                <a:lnTo>
                  <a:pt x="18288000" y="0"/>
                </a:lnTo>
                <a:lnTo>
                  <a:pt x="18288000" y="984247"/>
                </a:lnTo>
                <a:lnTo>
                  <a:pt x="0" y="984247"/>
                </a:lnTo>
                <a:lnTo>
                  <a:pt x="0" y="0"/>
                </a:lnTo>
                <a:close/>
              </a:path>
            </a:pathLst>
          </a:custGeom>
          <a:blipFill>
            <a:blip r:embed="rId2"/>
            <a:stretch>
              <a:fillRect l="-360" t="-6451" r="-368" b="0"/>
            </a:stretch>
          </a:blipFill>
        </p:spPr>
      </p:sp>
      <p:sp>
        <p:nvSpPr>
          <p:cNvPr name="Freeform 3" id="3"/>
          <p:cNvSpPr/>
          <p:nvPr/>
        </p:nvSpPr>
        <p:spPr>
          <a:xfrm flipH="false" flipV="false" rot="0">
            <a:off x="1771174" y="3222822"/>
            <a:ext cx="14744700" cy="5029200"/>
          </a:xfrm>
          <a:custGeom>
            <a:avLst/>
            <a:gdLst/>
            <a:ahLst/>
            <a:cxnLst/>
            <a:rect r="r" b="b" t="t" l="l"/>
            <a:pathLst>
              <a:path h="5029200" w="14744700">
                <a:moveTo>
                  <a:pt x="0" y="0"/>
                </a:moveTo>
                <a:lnTo>
                  <a:pt x="14744700" y="0"/>
                </a:lnTo>
                <a:lnTo>
                  <a:pt x="14744700" y="5029200"/>
                </a:lnTo>
                <a:lnTo>
                  <a:pt x="0" y="5029200"/>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0" y="0"/>
            <a:ext cx="18288000" cy="980275"/>
            <a:chOff x="0" y="0"/>
            <a:chExt cx="18288000" cy="980275"/>
          </a:xfrm>
        </p:grpSpPr>
        <p:sp>
          <p:nvSpPr>
            <p:cNvPr name="Freeform 5" id="5"/>
            <p:cNvSpPr/>
            <p:nvPr/>
          </p:nvSpPr>
          <p:spPr>
            <a:xfrm flipH="false" flipV="false" rot="0">
              <a:off x="0" y="0"/>
              <a:ext cx="18288000" cy="980313"/>
            </a:xfrm>
            <a:custGeom>
              <a:avLst/>
              <a:gdLst/>
              <a:ahLst/>
              <a:cxnLst/>
              <a:rect r="r" b="b" t="t" l="l"/>
              <a:pathLst>
                <a:path h="980313" w="18288000">
                  <a:moveTo>
                    <a:pt x="0" y="0"/>
                  </a:moveTo>
                  <a:lnTo>
                    <a:pt x="0" y="980313"/>
                  </a:lnTo>
                  <a:lnTo>
                    <a:pt x="18288000" y="980313"/>
                  </a:lnTo>
                  <a:lnTo>
                    <a:pt x="18288000" y="0"/>
                  </a:lnTo>
                  <a:close/>
                </a:path>
              </a:pathLst>
            </a:custGeom>
            <a:solidFill>
              <a:srgbClr val="C00000">
                <a:alpha val="0"/>
              </a:srgbClr>
            </a:solidFill>
          </p:spPr>
        </p:sp>
      </p:grpSp>
      <p:grpSp>
        <p:nvGrpSpPr>
          <p:cNvPr name="Group 6" id="6"/>
          <p:cNvGrpSpPr>
            <a:grpSpLocks noChangeAspect="true"/>
          </p:cNvGrpSpPr>
          <p:nvPr/>
        </p:nvGrpSpPr>
        <p:grpSpPr>
          <a:xfrm rot="0">
            <a:off x="1771174" y="3222822"/>
            <a:ext cx="14745652" cy="5031457"/>
            <a:chOff x="0" y="0"/>
            <a:chExt cx="14745652" cy="5031461"/>
          </a:xfrm>
        </p:grpSpPr>
        <p:sp>
          <p:nvSpPr>
            <p:cNvPr name="Freeform 7" id="7"/>
            <p:cNvSpPr/>
            <p:nvPr/>
          </p:nvSpPr>
          <p:spPr>
            <a:xfrm flipH="false" flipV="false" rot="0">
              <a:off x="0" y="0"/>
              <a:ext cx="14745588" cy="5031486"/>
            </a:xfrm>
            <a:custGeom>
              <a:avLst/>
              <a:gdLst/>
              <a:ahLst/>
              <a:cxnLst/>
              <a:rect r="r" b="b" t="t" l="l"/>
              <a:pathLst>
                <a:path h="5031486" w="14745588">
                  <a:moveTo>
                    <a:pt x="0" y="5031486"/>
                  </a:moveTo>
                  <a:lnTo>
                    <a:pt x="14745588" y="5031486"/>
                  </a:lnTo>
                  <a:lnTo>
                    <a:pt x="14745588" y="0"/>
                  </a:lnTo>
                  <a:lnTo>
                    <a:pt x="0" y="0"/>
                  </a:lnTo>
                  <a:close/>
                </a:path>
              </a:pathLst>
            </a:custGeom>
            <a:solidFill>
              <a:srgbClr val="C00000">
                <a:alpha val="0"/>
              </a:srgbClr>
            </a:solidFill>
          </p:spPr>
        </p:sp>
      </p:grpSp>
      <p:sp>
        <p:nvSpPr>
          <p:cNvPr name="TextBox 8" id="8"/>
          <p:cNvSpPr txBox="true"/>
          <p:nvPr/>
        </p:nvSpPr>
        <p:spPr>
          <a:xfrm rot="0">
            <a:off x="5059194" y="-28280"/>
            <a:ext cx="7977578" cy="89154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Arial Bold"/>
                <a:ea typeface="Arial Bold"/>
                <a:cs typeface="Arial Bold"/>
                <a:sym typeface="Arial Bold"/>
              </a:rPr>
              <a:t>Requirement Specification</a:t>
            </a:r>
          </a:p>
        </p:txBody>
      </p:sp>
      <p:sp>
        <p:nvSpPr>
          <p:cNvPr name="TextBox 9" id="9"/>
          <p:cNvSpPr txBox="true"/>
          <p:nvPr/>
        </p:nvSpPr>
        <p:spPr>
          <a:xfrm rot="0">
            <a:off x="2579265" y="3232347"/>
            <a:ext cx="2409511"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Oculus Quest 2</a:t>
            </a:r>
          </a:p>
        </p:txBody>
      </p:sp>
      <p:sp>
        <p:nvSpPr>
          <p:cNvPr name="TextBox 10" id="10"/>
          <p:cNvSpPr txBox="true"/>
          <p:nvPr/>
        </p:nvSpPr>
        <p:spPr>
          <a:xfrm rot="0">
            <a:off x="3398710" y="4203897"/>
            <a:ext cx="738054"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CPU</a:t>
            </a:r>
          </a:p>
        </p:txBody>
      </p:sp>
      <p:sp>
        <p:nvSpPr>
          <p:cNvPr name="TextBox 11" id="11"/>
          <p:cNvSpPr txBox="true"/>
          <p:nvPr/>
        </p:nvSpPr>
        <p:spPr>
          <a:xfrm rot="0">
            <a:off x="3379660" y="5175447"/>
            <a:ext cx="776869"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RAM</a:t>
            </a:r>
          </a:p>
        </p:txBody>
      </p:sp>
      <p:sp>
        <p:nvSpPr>
          <p:cNvPr name="TextBox 12" id="12"/>
          <p:cNvSpPr txBox="true"/>
          <p:nvPr/>
        </p:nvSpPr>
        <p:spPr>
          <a:xfrm rot="0">
            <a:off x="3389033" y="6151302"/>
            <a:ext cx="757638"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GPU</a:t>
            </a:r>
          </a:p>
        </p:txBody>
      </p:sp>
      <p:sp>
        <p:nvSpPr>
          <p:cNvPr name="TextBox 13" id="13"/>
          <p:cNvSpPr txBox="true"/>
          <p:nvPr/>
        </p:nvSpPr>
        <p:spPr>
          <a:xfrm rot="0">
            <a:off x="3160290" y="7127157"/>
            <a:ext cx="1224353"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Storage</a:t>
            </a:r>
          </a:p>
        </p:txBody>
      </p:sp>
      <p:sp>
        <p:nvSpPr>
          <p:cNvPr name="TextBox 14" id="14"/>
          <p:cNvSpPr txBox="true"/>
          <p:nvPr/>
        </p:nvSpPr>
        <p:spPr>
          <a:xfrm rot="0">
            <a:off x="6459693" y="3293774"/>
            <a:ext cx="4701607"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For immersive VR experience.</a:t>
            </a:r>
          </a:p>
        </p:txBody>
      </p:sp>
      <p:sp>
        <p:nvSpPr>
          <p:cNvPr name="TextBox 15" id="15"/>
          <p:cNvSpPr txBox="true"/>
          <p:nvPr/>
        </p:nvSpPr>
        <p:spPr>
          <a:xfrm rot="0">
            <a:off x="6459693" y="4265324"/>
            <a:ext cx="3983955"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Intel Core i7 or equivalent</a:t>
            </a:r>
          </a:p>
        </p:txBody>
      </p:sp>
      <p:sp>
        <p:nvSpPr>
          <p:cNvPr name="TextBox 16" id="16"/>
          <p:cNvSpPr txBox="true"/>
          <p:nvPr/>
        </p:nvSpPr>
        <p:spPr>
          <a:xfrm rot="0">
            <a:off x="6459693" y="5236874"/>
            <a:ext cx="2195655"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16GB or more</a:t>
            </a:r>
          </a:p>
        </p:txBody>
      </p:sp>
      <p:sp>
        <p:nvSpPr>
          <p:cNvPr name="TextBox 17" id="17"/>
          <p:cNvSpPr txBox="true"/>
          <p:nvPr/>
        </p:nvSpPr>
        <p:spPr>
          <a:xfrm rot="0">
            <a:off x="6459693" y="6212729"/>
            <a:ext cx="6489925"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NVIDIA GTX 1660 or higher (VR-capable)</a:t>
            </a:r>
          </a:p>
        </p:txBody>
      </p:sp>
      <p:sp>
        <p:nvSpPr>
          <p:cNvPr name="TextBox 18" id="18"/>
          <p:cNvSpPr txBox="true"/>
          <p:nvPr/>
        </p:nvSpPr>
        <p:spPr>
          <a:xfrm rot="0">
            <a:off x="6459693" y="7188584"/>
            <a:ext cx="3206067"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500GB SSD or more</a:t>
            </a:r>
          </a:p>
        </p:txBody>
      </p:sp>
      <p:sp>
        <p:nvSpPr>
          <p:cNvPr name="TextBox 19" id="19"/>
          <p:cNvSpPr txBox="true"/>
          <p:nvPr/>
        </p:nvSpPr>
        <p:spPr>
          <a:xfrm rot="0">
            <a:off x="1834677" y="2122875"/>
            <a:ext cx="2183940" cy="683228"/>
          </a:xfrm>
          <a:prstGeom prst="rect">
            <a:avLst/>
          </a:prstGeom>
        </p:spPr>
        <p:txBody>
          <a:bodyPr anchor="t" rtlCol="false" tIns="0" lIns="0" bIns="0" rIns="0">
            <a:spAutoFit/>
          </a:bodyPr>
          <a:lstStyle/>
          <a:p>
            <a:pPr algn="l">
              <a:lnSpc>
                <a:spcPts val="5179"/>
              </a:lnSpc>
            </a:pPr>
            <a:r>
              <a:rPr lang="en-US" b="true" sz="3699">
                <a:solidFill>
                  <a:srgbClr val="C00000"/>
                </a:solidFill>
                <a:latin typeface="Arial Bold"/>
                <a:ea typeface="Arial Bold"/>
                <a:cs typeface="Arial Bold"/>
                <a:sym typeface="Arial Bold"/>
              </a:rPr>
              <a:t>Hardware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0647"/>
          </a:xfrm>
          <a:custGeom>
            <a:avLst/>
            <a:gdLst/>
            <a:ahLst/>
            <a:cxnLst/>
            <a:rect r="r" b="b" t="t" l="l"/>
            <a:pathLst>
              <a:path h="10280647" w="18288000">
                <a:moveTo>
                  <a:pt x="0" y="0"/>
                </a:moveTo>
                <a:lnTo>
                  <a:pt x="18288000" y="0"/>
                </a:lnTo>
                <a:lnTo>
                  <a:pt x="18288000" y="10280647"/>
                </a:lnTo>
                <a:lnTo>
                  <a:pt x="0" y="10280647"/>
                </a:lnTo>
                <a:lnTo>
                  <a:pt x="0" y="0"/>
                </a:lnTo>
                <a:close/>
              </a:path>
            </a:pathLst>
          </a:custGeom>
          <a:blipFill>
            <a:blip r:embed="rId2"/>
            <a:stretch>
              <a:fillRect l="-360" t="-617" r="-368" b="0"/>
            </a:stretch>
          </a:blipFill>
        </p:spPr>
      </p:sp>
      <p:grpSp>
        <p:nvGrpSpPr>
          <p:cNvPr name="Group 3" id="3"/>
          <p:cNvGrpSpPr>
            <a:grpSpLocks noChangeAspect="true"/>
          </p:cNvGrpSpPr>
          <p:nvPr/>
        </p:nvGrpSpPr>
        <p:grpSpPr>
          <a:xfrm rot="0">
            <a:off x="0" y="0"/>
            <a:ext cx="18288000" cy="10283819"/>
            <a:chOff x="0" y="0"/>
            <a:chExt cx="18288000" cy="10283812"/>
          </a:xfrm>
        </p:grpSpPr>
        <p:sp>
          <p:nvSpPr>
            <p:cNvPr name="Freeform 4" id="4"/>
            <p:cNvSpPr/>
            <p:nvPr/>
          </p:nvSpPr>
          <p:spPr>
            <a:xfrm flipH="false" flipV="false" rot="0">
              <a:off x="0" y="0"/>
              <a:ext cx="18288000" cy="10283825"/>
            </a:xfrm>
            <a:custGeom>
              <a:avLst/>
              <a:gdLst/>
              <a:ahLst/>
              <a:cxnLst/>
              <a:rect r="r" b="b" t="t" l="l"/>
              <a:pathLst>
                <a:path h="10283825" w="18288000">
                  <a:moveTo>
                    <a:pt x="0" y="0"/>
                  </a:moveTo>
                  <a:lnTo>
                    <a:pt x="0" y="10283825"/>
                  </a:lnTo>
                  <a:lnTo>
                    <a:pt x="18288000" y="10283825"/>
                  </a:lnTo>
                  <a:lnTo>
                    <a:pt x="18288000" y="0"/>
                  </a:lnTo>
                  <a:close/>
                </a:path>
              </a:pathLst>
            </a:custGeom>
            <a:solidFill>
              <a:srgbClr val="C00000">
                <a:alpha val="0"/>
              </a:srgbClr>
            </a:solidFill>
          </p:spPr>
        </p:sp>
      </p:grpSp>
      <p:sp>
        <p:nvSpPr>
          <p:cNvPr name="TextBox 5" id="5"/>
          <p:cNvSpPr txBox="true"/>
          <p:nvPr/>
        </p:nvSpPr>
        <p:spPr>
          <a:xfrm rot="0">
            <a:off x="1708795" y="1249004"/>
            <a:ext cx="1807121" cy="499005"/>
          </a:xfrm>
          <a:prstGeom prst="rect">
            <a:avLst/>
          </a:prstGeom>
        </p:spPr>
        <p:txBody>
          <a:bodyPr anchor="t" rtlCol="false" tIns="0" lIns="0" bIns="0" rIns="0">
            <a:spAutoFit/>
          </a:bodyPr>
          <a:lstStyle/>
          <a:p>
            <a:pPr algn="l">
              <a:lnSpc>
                <a:spcPts val="3778"/>
              </a:lnSpc>
            </a:pPr>
            <a:r>
              <a:rPr lang="en-US" sz="2699">
                <a:solidFill>
                  <a:srgbClr val="000000"/>
                </a:solidFill>
                <a:latin typeface="Arial"/>
                <a:ea typeface="Arial"/>
                <a:cs typeface="Arial"/>
                <a:sym typeface="Arial"/>
              </a:rPr>
              <a:t>Component</a:t>
            </a:r>
          </a:p>
        </p:txBody>
      </p:sp>
      <p:sp>
        <p:nvSpPr>
          <p:cNvPr name="TextBox 6" id="6"/>
          <p:cNvSpPr txBox="true"/>
          <p:nvPr/>
        </p:nvSpPr>
        <p:spPr>
          <a:xfrm rot="0">
            <a:off x="2375545" y="4794256"/>
            <a:ext cx="446827"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C#</a:t>
            </a:r>
          </a:p>
        </p:txBody>
      </p:sp>
      <p:sp>
        <p:nvSpPr>
          <p:cNvPr name="TextBox 7" id="7"/>
          <p:cNvSpPr txBox="true"/>
          <p:nvPr/>
        </p:nvSpPr>
        <p:spPr>
          <a:xfrm rot="0">
            <a:off x="1337462" y="5765806"/>
            <a:ext cx="2564740"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Oculus Software</a:t>
            </a:r>
          </a:p>
        </p:txBody>
      </p:sp>
      <p:sp>
        <p:nvSpPr>
          <p:cNvPr name="TextBox 8" id="8"/>
          <p:cNvSpPr txBox="true"/>
          <p:nvPr/>
        </p:nvSpPr>
        <p:spPr>
          <a:xfrm rot="0">
            <a:off x="2375545" y="6737356"/>
            <a:ext cx="446808"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Git</a:t>
            </a:r>
          </a:p>
        </p:txBody>
      </p:sp>
      <p:sp>
        <p:nvSpPr>
          <p:cNvPr name="TextBox 9" id="9"/>
          <p:cNvSpPr txBox="true"/>
          <p:nvPr/>
        </p:nvSpPr>
        <p:spPr>
          <a:xfrm rot="0">
            <a:off x="1413520" y="7708906"/>
            <a:ext cx="2409511" cy="784755"/>
          </a:xfrm>
          <a:prstGeom prst="rect">
            <a:avLst/>
          </a:prstGeom>
        </p:spPr>
        <p:txBody>
          <a:bodyPr anchor="t" rtlCol="false" tIns="0" lIns="0" bIns="0" rIns="0">
            <a:spAutoFit/>
          </a:bodyPr>
          <a:lstStyle/>
          <a:p>
            <a:pPr algn="l">
              <a:lnSpc>
                <a:spcPts val="6748"/>
              </a:lnSpc>
            </a:pPr>
            <a:r>
              <a:rPr lang="en-US" sz="2699">
                <a:solidFill>
                  <a:srgbClr val="000000"/>
                </a:solidFill>
                <a:latin typeface="Arial"/>
                <a:ea typeface="Arial"/>
                <a:cs typeface="Arial"/>
                <a:sym typeface="Arial"/>
              </a:rPr>
              <a:t>Oculus Quest 2</a:t>
            </a:r>
          </a:p>
        </p:txBody>
      </p:sp>
      <p:sp>
        <p:nvSpPr>
          <p:cNvPr name="TextBox 10" id="10"/>
          <p:cNvSpPr txBox="true"/>
          <p:nvPr/>
        </p:nvSpPr>
        <p:spPr>
          <a:xfrm rot="0">
            <a:off x="1252042" y="3877904"/>
            <a:ext cx="2738828" cy="499005"/>
          </a:xfrm>
          <a:prstGeom prst="rect">
            <a:avLst/>
          </a:prstGeom>
        </p:spPr>
        <p:txBody>
          <a:bodyPr anchor="t" rtlCol="false" tIns="0" lIns="0" bIns="0" rIns="0">
            <a:spAutoFit/>
          </a:bodyPr>
          <a:lstStyle/>
          <a:p>
            <a:pPr algn="l">
              <a:lnSpc>
                <a:spcPts val="3778"/>
              </a:lnSpc>
            </a:pPr>
            <a:r>
              <a:rPr lang="en-US" sz="2699">
                <a:solidFill>
                  <a:srgbClr val="000000"/>
                </a:solidFill>
                <a:latin typeface="Arial"/>
                <a:ea typeface="Arial"/>
                <a:cs typeface="Arial"/>
                <a:sym typeface="Arial"/>
              </a:rPr>
              <a:t>Unity (XR Toolkit)</a:t>
            </a:r>
          </a:p>
        </p:txBody>
      </p:sp>
      <p:sp>
        <p:nvSpPr>
          <p:cNvPr name="TextBox 11" id="11"/>
          <p:cNvSpPr txBox="true"/>
          <p:nvPr/>
        </p:nvSpPr>
        <p:spPr>
          <a:xfrm rot="0">
            <a:off x="9498759" y="1249004"/>
            <a:ext cx="3225489" cy="499005"/>
          </a:xfrm>
          <a:prstGeom prst="rect">
            <a:avLst/>
          </a:prstGeom>
        </p:spPr>
        <p:txBody>
          <a:bodyPr anchor="t" rtlCol="false" tIns="0" lIns="0" bIns="0" rIns="0">
            <a:spAutoFit/>
          </a:bodyPr>
          <a:lstStyle/>
          <a:p>
            <a:pPr algn="l">
              <a:lnSpc>
                <a:spcPts val="3778"/>
              </a:lnSpc>
            </a:pPr>
            <a:r>
              <a:rPr lang="en-US" sz="2699">
                <a:solidFill>
                  <a:srgbClr val="000000"/>
                </a:solidFill>
                <a:latin typeface="Arial"/>
                <a:ea typeface="Arial"/>
                <a:cs typeface="Arial"/>
                <a:sym typeface="Arial"/>
              </a:rPr>
              <a:t>Purpose/Justification</a:t>
            </a:r>
          </a:p>
        </p:txBody>
      </p:sp>
      <p:sp>
        <p:nvSpPr>
          <p:cNvPr name="TextBox 12" id="12"/>
          <p:cNvSpPr txBox="true"/>
          <p:nvPr/>
        </p:nvSpPr>
        <p:spPr>
          <a:xfrm rot="0">
            <a:off x="2047675" y="2423208"/>
            <a:ext cx="1115816" cy="460343"/>
          </a:xfrm>
          <a:prstGeom prst="rect">
            <a:avLst/>
          </a:prstGeom>
        </p:spPr>
        <p:txBody>
          <a:bodyPr anchor="t" rtlCol="false" tIns="0" lIns="0" bIns="0" rIns="0">
            <a:spAutoFit/>
          </a:bodyPr>
          <a:lstStyle/>
          <a:p>
            <a:pPr algn="l">
              <a:lnSpc>
                <a:spcPts val="3499"/>
              </a:lnSpc>
            </a:pPr>
            <a:r>
              <a:rPr lang="en-US" sz="2499">
                <a:solidFill>
                  <a:srgbClr val="000000"/>
                </a:solidFill>
                <a:latin typeface="Arial"/>
                <a:ea typeface="Arial"/>
                <a:cs typeface="Arial"/>
                <a:sym typeface="Arial"/>
              </a:rPr>
              <a:t>Blender</a:t>
            </a:r>
          </a:p>
        </p:txBody>
      </p:sp>
      <p:sp>
        <p:nvSpPr>
          <p:cNvPr name="TextBox 13" id="13"/>
          <p:cNvSpPr txBox="true"/>
          <p:nvPr/>
        </p:nvSpPr>
        <p:spPr>
          <a:xfrm rot="0">
            <a:off x="918362" y="9263796"/>
            <a:ext cx="3419627" cy="470945"/>
          </a:xfrm>
          <a:prstGeom prst="rect">
            <a:avLst/>
          </a:prstGeom>
        </p:spPr>
        <p:txBody>
          <a:bodyPr anchor="t" rtlCol="false" tIns="0" lIns="0" bIns="0" rIns="0">
            <a:spAutoFit/>
          </a:bodyPr>
          <a:lstStyle/>
          <a:p>
            <a:pPr algn="l">
              <a:lnSpc>
                <a:spcPts val="3778"/>
              </a:lnSpc>
            </a:pPr>
            <a:r>
              <a:rPr lang="en-US" sz="2699">
                <a:solidFill>
                  <a:srgbClr val="000000"/>
                </a:solidFill>
                <a:latin typeface="Arimo"/>
                <a:ea typeface="Arimo"/>
                <a:cs typeface="Arimo"/>
                <a:sym typeface="Arimo"/>
              </a:rPr>
              <a:t>High-Performance PC</a:t>
            </a:r>
          </a:p>
        </p:txBody>
      </p:sp>
      <p:sp>
        <p:nvSpPr>
          <p:cNvPr name="TextBox 14" id="14"/>
          <p:cNvSpPr txBox="true"/>
          <p:nvPr/>
        </p:nvSpPr>
        <p:spPr>
          <a:xfrm rot="0">
            <a:off x="5323084" y="2255282"/>
            <a:ext cx="10377773" cy="928145"/>
          </a:xfrm>
          <a:prstGeom prst="rect">
            <a:avLst/>
          </a:prstGeom>
        </p:spPr>
        <p:txBody>
          <a:bodyPr anchor="t" rtlCol="false" tIns="0" lIns="0" bIns="0" rIns="0">
            <a:spAutoFit/>
          </a:bodyPr>
          <a:lstStyle/>
          <a:p>
            <a:pPr algn="l">
              <a:lnSpc>
                <a:spcPts val="3673"/>
              </a:lnSpc>
            </a:pPr>
            <a:r>
              <a:rPr lang="en-US" sz="2699">
                <a:solidFill>
                  <a:srgbClr val="000000"/>
                </a:solidFill>
                <a:latin typeface="Arimo"/>
                <a:ea typeface="Arimo"/>
                <a:cs typeface="Arimo"/>
                <a:sym typeface="Arimo"/>
              </a:rPr>
              <a:t>3D asset creation, texturing, and animation for detailed models and environments.</a:t>
            </a:r>
          </a:p>
        </p:txBody>
      </p:sp>
      <p:sp>
        <p:nvSpPr>
          <p:cNvPr name="TextBox 15" id="15"/>
          <p:cNvSpPr txBox="true"/>
          <p:nvPr/>
        </p:nvSpPr>
        <p:spPr>
          <a:xfrm rot="0">
            <a:off x="5323084" y="3407874"/>
            <a:ext cx="10766308" cy="1261520"/>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VR environment development and seamless integration of assets and</a:t>
            </a:r>
          </a:p>
          <a:p>
            <a:pPr algn="l">
              <a:lnSpc>
                <a:spcPts val="1349"/>
              </a:lnSpc>
            </a:pPr>
            <a:r>
              <a:rPr lang="en-US" sz="2699">
                <a:solidFill>
                  <a:srgbClr val="000000"/>
                </a:solidFill>
                <a:latin typeface="Arimo"/>
                <a:ea typeface="Arimo"/>
                <a:cs typeface="Arimo"/>
                <a:sym typeface="Arimo"/>
              </a:rPr>
              <a:t>interactions.</a:t>
            </a:r>
          </a:p>
        </p:txBody>
      </p:sp>
      <p:sp>
        <p:nvSpPr>
          <p:cNvPr name="TextBox 16" id="16"/>
          <p:cNvSpPr txBox="true"/>
          <p:nvPr/>
        </p:nvSpPr>
        <p:spPr>
          <a:xfrm rot="0">
            <a:off x="5323084" y="4855674"/>
            <a:ext cx="8861031"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Scripting for animal behaviors, interactions, and VR logic.</a:t>
            </a:r>
          </a:p>
        </p:txBody>
      </p:sp>
      <p:sp>
        <p:nvSpPr>
          <p:cNvPr name="TextBox 17" id="17"/>
          <p:cNvSpPr txBox="true"/>
          <p:nvPr/>
        </p:nvSpPr>
        <p:spPr>
          <a:xfrm rot="0">
            <a:off x="5323084" y="5827224"/>
            <a:ext cx="10978477"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Optimizes performance and ensures compatibility with Oculus Quest 2.</a:t>
            </a:r>
          </a:p>
        </p:txBody>
      </p:sp>
      <p:sp>
        <p:nvSpPr>
          <p:cNvPr name="TextBox 18" id="18"/>
          <p:cNvSpPr txBox="true"/>
          <p:nvPr/>
        </p:nvSpPr>
        <p:spPr>
          <a:xfrm rot="0">
            <a:off x="5323084" y="6798774"/>
            <a:ext cx="11446726"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Version control for code and asset management, supporting collaboration.</a:t>
            </a:r>
          </a:p>
        </p:txBody>
      </p:sp>
      <p:sp>
        <p:nvSpPr>
          <p:cNvPr name="TextBox 19" id="19"/>
          <p:cNvSpPr txBox="true"/>
          <p:nvPr/>
        </p:nvSpPr>
        <p:spPr>
          <a:xfrm rot="0">
            <a:off x="5323084" y="7770324"/>
            <a:ext cx="12027294"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Provides immersive VR experience for real-time interactions in the virtual zoo.</a:t>
            </a:r>
          </a:p>
        </p:txBody>
      </p:sp>
      <p:sp>
        <p:nvSpPr>
          <p:cNvPr name="TextBox 20" id="20"/>
          <p:cNvSpPr txBox="true"/>
          <p:nvPr/>
        </p:nvSpPr>
        <p:spPr>
          <a:xfrm rot="0">
            <a:off x="5323084" y="8741874"/>
            <a:ext cx="12144756" cy="756695"/>
          </a:xfrm>
          <a:prstGeom prst="rect">
            <a:avLst/>
          </a:prstGeom>
        </p:spPr>
        <p:txBody>
          <a:bodyPr anchor="t" rtlCol="false" tIns="0" lIns="0" bIns="0" rIns="0">
            <a:spAutoFit/>
          </a:bodyPr>
          <a:lstStyle/>
          <a:p>
            <a:pPr algn="l">
              <a:lnSpc>
                <a:spcPts val="6748"/>
              </a:lnSpc>
            </a:pPr>
            <a:r>
              <a:rPr lang="en-US" sz="2699">
                <a:solidFill>
                  <a:srgbClr val="000000"/>
                </a:solidFill>
                <a:latin typeface="Arimo"/>
                <a:ea typeface="Arimo"/>
                <a:cs typeface="Arimo"/>
                <a:sym typeface="Arimo"/>
              </a:rPr>
              <a:t>Runs Unity, Blender, and VR testing efficiently with a powerful CPU, GPU, and</a:t>
            </a:r>
          </a:p>
        </p:txBody>
      </p:sp>
      <p:sp>
        <p:nvSpPr>
          <p:cNvPr name="TextBox 21" id="21"/>
          <p:cNvSpPr txBox="true"/>
          <p:nvPr/>
        </p:nvSpPr>
        <p:spPr>
          <a:xfrm rot="0">
            <a:off x="5323084" y="9761049"/>
            <a:ext cx="1363199" cy="242345"/>
          </a:xfrm>
          <a:prstGeom prst="rect">
            <a:avLst/>
          </a:prstGeom>
        </p:spPr>
        <p:txBody>
          <a:bodyPr anchor="t" rtlCol="false" tIns="0" lIns="0" bIns="0" rIns="0">
            <a:spAutoFit/>
          </a:bodyPr>
          <a:lstStyle/>
          <a:p>
            <a:pPr algn="l">
              <a:lnSpc>
                <a:spcPts val="1349"/>
              </a:lnSpc>
            </a:pPr>
            <a:r>
              <a:rPr lang="en-US" sz="2699" spc="2">
                <a:solidFill>
                  <a:srgbClr val="000000"/>
                </a:solidFill>
                <a:latin typeface="Arimo"/>
                <a:ea typeface="Arimo"/>
                <a:cs typeface="Arimo"/>
                <a:sym typeface="Arimo"/>
              </a:rPr>
              <a:t>storage.</a:t>
            </a:r>
            <a:r>
              <a:rPr lang="en-US" sz="2699" spc="2">
                <a:solidFill>
                  <a:srgbClr val="FFFFFF"/>
                </a:solidFill>
                <a:latin typeface="Arimo"/>
                <a:ea typeface="Arimo"/>
                <a:cs typeface="Arimo"/>
                <a:sym typeface="Arimo"/>
              </a:rPr>
              <a:t> </a:t>
            </a:r>
          </a:p>
        </p:txBody>
      </p:sp>
      <p:sp>
        <p:nvSpPr>
          <p:cNvPr name="TextBox 22" id="22"/>
          <p:cNvSpPr txBox="true"/>
          <p:nvPr/>
        </p:nvSpPr>
        <p:spPr>
          <a:xfrm rot="0">
            <a:off x="3716474" y="8001"/>
            <a:ext cx="10713453"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Requirement Specification - Justification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81389"/>
          </a:xfrm>
          <a:custGeom>
            <a:avLst/>
            <a:gdLst/>
            <a:ahLst/>
            <a:cxnLst/>
            <a:rect r="r" b="b" t="t" l="l"/>
            <a:pathLst>
              <a:path h="981389" w="18288000">
                <a:moveTo>
                  <a:pt x="0" y="0"/>
                </a:moveTo>
                <a:lnTo>
                  <a:pt x="18288000" y="0"/>
                </a:lnTo>
                <a:lnTo>
                  <a:pt x="18288000" y="981390"/>
                </a:lnTo>
                <a:lnTo>
                  <a:pt x="0" y="981390"/>
                </a:lnTo>
                <a:lnTo>
                  <a:pt x="0" y="0"/>
                </a:lnTo>
                <a:close/>
              </a:path>
            </a:pathLst>
          </a:custGeom>
          <a:blipFill>
            <a:blip r:embed="rId2"/>
            <a:stretch>
              <a:fillRect l="-373" t="-6761" r="-355" b="0"/>
            </a:stretch>
          </a:blipFill>
        </p:spPr>
      </p:sp>
      <p:sp>
        <p:nvSpPr>
          <p:cNvPr name="Freeform 3" id="3"/>
          <p:cNvSpPr/>
          <p:nvPr/>
        </p:nvSpPr>
        <p:spPr>
          <a:xfrm flipH="false" flipV="false" rot="0">
            <a:off x="5026657" y="8180384"/>
            <a:ext cx="190500" cy="161925"/>
          </a:xfrm>
          <a:custGeom>
            <a:avLst/>
            <a:gdLst/>
            <a:ahLst/>
            <a:cxnLst/>
            <a:rect r="r" b="b" t="t" l="l"/>
            <a:pathLst>
              <a:path h="161925" w="190500">
                <a:moveTo>
                  <a:pt x="0" y="0"/>
                </a:moveTo>
                <a:lnTo>
                  <a:pt x="190500" y="0"/>
                </a:lnTo>
                <a:lnTo>
                  <a:pt x="190500" y="161925"/>
                </a:lnTo>
                <a:lnTo>
                  <a:pt x="0" y="161925"/>
                </a:lnTo>
                <a:lnTo>
                  <a:pt x="0" y="0"/>
                </a:lnTo>
                <a:close/>
              </a:path>
            </a:pathLst>
          </a:custGeom>
          <a:blipFill>
            <a:blip r:embed="rId3"/>
            <a:stretch>
              <a:fillRect l="0" t="0" r="0" b="0"/>
            </a:stretch>
          </a:blipFill>
        </p:spPr>
      </p:sp>
      <p:sp>
        <p:nvSpPr>
          <p:cNvPr name="Freeform 4" id="4"/>
          <p:cNvSpPr/>
          <p:nvPr/>
        </p:nvSpPr>
        <p:spPr>
          <a:xfrm flipH="false" flipV="false" rot="0">
            <a:off x="8491490" y="2990993"/>
            <a:ext cx="9124950" cy="5762625"/>
          </a:xfrm>
          <a:custGeom>
            <a:avLst/>
            <a:gdLst/>
            <a:ahLst/>
            <a:cxnLst/>
            <a:rect r="r" b="b" t="t" l="l"/>
            <a:pathLst>
              <a:path h="5762625" w="9124950">
                <a:moveTo>
                  <a:pt x="0" y="0"/>
                </a:moveTo>
                <a:lnTo>
                  <a:pt x="9124950" y="0"/>
                </a:lnTo>
                <a:lnTo>
                  <a:pt x="9124950" y="5762625"/>
                </a:lnTo>
                <a:lnTo>
                  <a:pt x="0" y="5762625"/>
                </a:lnTo>
                <a:lnTo>
                  <a:pt x="0" y="0"/>
                </a:lnTo>
                <a:close/>
              </a:path>
            </a:pathLst>
          </a:custGeom>
          <a:blipFill>
            <a:blip r:embed="rId4"/>
            <a:stretch>
              <a:fillRect l="0" t="0" r="0" b="0"/>
            </a:stretch>
          </a:blipFill>
        </p:spPr>
      </p:sp>
      <p:sp>
        <p:nvSpPr>
          <p:cNvPr name="Freeform 5" id="5"/>
          <p:cNvSpPr/>
          <p:nvPr/>
        </p:nvSpPr>
        <p:spPr>
          <a:xfrm flipH="false" flipV="false" rot="0">
            <a:off x="1516342" y="2408530"/>
            <a:ext cx="6400800" cy="6343650"/>
          </a:xfrm>
          <a:custGeom>
            <a:avLst/>
            <a:gdLst/>
            <a:ahLst/>
            <a:cxnLst/>
            <a:rect r="r" b="b" t="t" l="l"/>
            <a:pathLst>
              <a:path h="6343650" w="6400800">
                <a:moveTo>
                  <a:pt x="0" y="0"/>
                </a:moveTo>
                <a:lnTo>
                  <a:pt x="6400800" y="0"/>
                </a:lnTo>
                <a:lnTo>
                  <a:pt x="6400800" y="6343650"/>
                </a:lnTo>
                <a:lnTo>
                  <a:pt x="0" y="6343650"/>
                </a:lnTo>
                <a:lnTo>
                  <a:pt x="0" y="0"/>
                </a:lnTo>
                <a:close/>
              </a:path>
            </a:pathLst>
          </a:custGeom>
          <a:blipFill>
            <a:blip r:embed="rId5"/>
            <a:stretch>
              <a:fillRect l="0" t="0" r="0" b="0"/>
            </a:stretch>
          </a:blipFill>
        </p:spPr>
      </p:sp>
      <p:grpSp>
        <p:nvGrpSpPr>
          <p:cNvPr name="Group 6" id="6"/>
          <p:cNvGrpSpPr>
            <a:grpSpLocks noChangeAspect="true"/>
          </p:cNvGrpSpPr>
          <p:nvPr/>
        </p:nvGrpSpPr>
        <p:grpSpPr>
          <a:xfrm rot="0">
            <a:off x="1389345" y="2281533"/>
            <a:ext cx="6654546" cy="6598539"/>
            <a:chOff x="0" y="0"/>
            <a:chExt cx="6654546" cy="6598539"/>
          </a:xfrm>
        </p:grpSpPr>
        <p:sp>
          <p:nvSpPr>
            <p:cNvPr name="Freeform 7" id="7"/>
            <p:cNvSpPr/>
            <p:nvPr/>
          </p:nvSpPr>
          <p:spPr>
            <a:xfrm flipH="false" flipV="false" rot="0">
              <a:off x="63500" y="63500"/>
              <a:ext cx="6527546" cy="6471539"/>
            </a:xfrm>
            <a:custGeom>
              <a:avLst/>
              <a:gdLst/>
              <a:ahLst/>
              <a:cxnLst/>
              <a:rect r="r" b="b" t="t" l="l"/>
              <a:pathLst>
                <a:path h="6471539" w="6527546">
                  <a:moveTo>
                    <a:pt x="0" y="6471539"/>
                  </a:moveTo>
                  <a:lnTo>
                    <a:pt x="6527546" y="6471539"/>
                  </a:lnTo>
                  <a:lnTo>
                    <a:pt x="6527546" y="0"/>
                  </a:lnTo>
                  <a:lnTo>
                    <a:pt x="0" y="0"/>
                  </a:lnTo>
                  <a:close/>
                </a:path>
              </a:pathLst>
            </a:custGeom>
            <a:solidFill>
              <a:srgbClr val="C00000">
                <a:alpha val="0"/>
              </a:srgbClr>
            </a:solidFill>
          </p:spPr>
        </p:sp>
        <p:sp>
          <p:nvSpPr>
            <p:cNvPr name="Freeform 8" id="8"/>
            <p:cNvSpPr/>
            <p:nvPr/>
          </p:nvSpPr>
          <p:spPr>
            <a:xfrm flipH="false" flipV="false" rot="0">
              <a:off x="127000" y="127000"/>
              <a:ext cx="6400800" cy="6343650"/>
            </a:xfrm>
            <a:custGeom>
              <a:avLst/>
              <a:gdLst/>
              <a:ahLst/>
              <a:cxnLst/>
              <a:rect r="r" b="b" t="t" l="l"/>
              <a:pathLst>
                <a:path h="6343650" w="6400800">
                  <a:moveTo>
                    <a:pt x="0" y="6343650"/>
                  </a:moveTo>
                  <a:lnTo>
                    <a:pt x="6400800" y="6343650"/>
                  </a:lnTo>
                  <a:lnTo>
                    <a:pt x="6400800" y="0"/>
                  </a:lnTo>
                  <a:lnTo>
                    <a:pt x="0" y="0"/>
                  </a:lnTo>
                  <a:close/>
                </a:path>
              </a:pathLst>
            </a:custGeom>
            <a:solidFill>
              <a:srgbClr val="C00000">
                <a:alpha val="0"/>
              </a:srgbClr>
            </a:solidFill>
          </p:spPr>
        </p:sp>
        <p:sp>
          <p:nvSpPr>
            <p:cNvPr name="Freeform 9" id="9"/>
            <p:cNvSpPr/>
            <p:nvPr/>
          </p:nvSpPr>
          <p:spPr>
            <a:xfrm flipH="false" flipV="false" rot="0">
              <a:off x="3637280" y="5898896"/>
              <a:ext cx="193675" cy="165989"/>
            </a:xfrm>
            <a:custGeom>
              <a:avLst/>
              <a:gdLst/>
              <a:ahLst/>
              <a:cxnLst/>
              <a:rect r="r" b="b" t="t" l="l"/>
              <a:pathLst>
                <a:path h="165989" w="193675">
                  <a:moveTo>
                    <a:pt x="0" y="165989"/>
                  </a:moveTo>
                  <a:lnTo>
                    <a:pt x="193675" y="165989"/>
                  </a:lnTo>
                  <a:lnTo>
                    <a:pt x="193675" y="0"/>
                  </a:lnTo>
                  <a:lnTo>
                    <a:pt x="0" y="0"/>
                  </a:lnTo>
                  <a:close/>
                </a:path>
              </a:pathLst>
            </a:custGeom>
            <a:solidFill>
              <a:srgbClr val="C00000">
                <a:alpha val="0"/>
              </a:srgbClr>
            </a:solidFill>
          </p:spPr>
        </p:sp>
      </p:grpSp>
      <p:grpSp>
        <p:nvGrpSpPr>
          <p:cNvPr name="Group 10" id="10"/>
          <p:cNvGrpSpPr>
            <a:grpSpLocks noChangeAspect="true"/>
          </p:cNvGrpSpPr>
          <p:nvPr/>
        </p:nvGrpSpPr>
        <p:grpSpPr>
          <a:xfrm rot="0">
            <a:off x="-63503" y="-63503"/>
            <a:ext cx="18414997" cy="1104414"/>
            <a:chOff x="0" y="0"/>
            <a:chExt cx="18415000" cy="1104417"/>
          </a:xfrm>
        </p:grpSpPr>
        <p:sp>
          <p:nvSpPr>
            <p:cNvPr name="Freeform 11" id="11"/>
            <p:cNvSpPr/>
            <p:nvPr/>
          </p:nvSpPr>
          <p:spPr>
            <a:xfrm flipH="false" flipV="false" rot="0">
              <a:off x="63500" y="63500"/>
              <a:ext cx="18288000" cy="977392"/>
            </a:xfrm>
            <a:custGeom>
              <a:avLst/>
              <a:gdLst/>
              <a:ahLst/>
              <a:cxnLst/>
              <a:rect r="r" b="b" t="t" l="l"/>
              <a:pathLst>
                <a:path h="977392" w="18288000">
                  <a:moveTo>
                    <a:pt x="0" y="0"/>
                  </a:moveTo>
                  <a:lnTo>
                    <a:pt x="0" y="977392"/>
                  </a:lnTo>
                  <a:lnTo>
                    <a:pt x="18288000" y="977392"/>
                  </a:lnTo>
                  <a:lnTo>
                    <a:pt x="18288000" y="0"/>
                  </a:lnTo>
                  <a:close/>
                </a:path>
              </a:pathLst>
            </a:custGeom>
            <a:solidFill>
              <a:srgbClr val="C00000">
                <a:alpha val="0"/>
              </a:srgbClr>
            </a:solidFill>
          </p:spPr>
        </p:sp>
        <p:sp>
          <p:nvSpPr>
            <p:cNvPr name="Freeform 12" id="12"/>
            <p:cNvSpPr/>
            <p:nvPr/>
          </p:nvSpPr>
          <p:spPr>
            <a:xfrm flipH="false" flipV="false" rot="0">
              <a:off x="63500" y="63500"/>
              <a:ext cx="18288000" cy="913892"/>
            </a:xfrm>
            <a:custGeom>
              <a:avLst/>
              <a:gdLst/>
              <a:ahLst/>
              <a:cxnLst/>
              <a:rect r="r" b="b" t="t" l="l"/>
              <a:pathLst>
                <a:path h="913892" w="18288000">
                  <a:moveTo>
                    <a:pt x="0" y="913892"/>
                  </a:moveTo>
                  <a:lnTo>
                    <a:pt x="18288000" y="913892"/>
                  </a:lnTo>
                  <a:lnTo>
                    <a:pt x="18288000" y="0"/>
                  </a:lnTo>
                  <a:lnTo>
                    <a:pt x="0" y="0"/>
                  </a:lnTo>
                  <a:close/>
                </a:path>
              </a:pathLst>
            </a:custGeom>
            <a:solidFill>
              <a:srgbClr val="C00000">
                <a:alpha val="0"/>
              </a:srgbClr>
            </a:solidFill>
          </p:spPr>
        </p:sp>
      </p:grpSp>
      <p:grpSp>
        <p:nvGrpSpPr>
          <p:cNvPr name="Group 13" id="13"/>
          <p:cNvGrpSpPr>
            <a:grpSpLocks noChangeAspect="true"/>
          </p:cNvGrpSpPr>
          <p:nvPr/>
        </p:nvGrpSpPr>
        <p:grpSpPr>
          <a:xfrm rot="0">
            <a:off x="8427987" y="2927490"/>
            <a:ext cx="9255052" cy="5889622"/>
            <a:chOff x="0" y="0"/>
            <a:chExt cx="9255049" cy="5889625"/>
          </a:xfrm>
        </p:grpSpPr>
        <p:sp>
          <p:nvSpPr>
            <p:cNvPr name="Freeform 14" id="14"/>
            <p:cNvSpPr/>
            <p:nvPr/>
          </p:nvSpPr>
          <p:spPr>
            <a:xfrm flipH="false" flipV="false" rot="0">
              <a:off x="63500" y="63500"/>
              <a:ext cx="9127998" cy="5762117"/>
            </a:xfrm>
            <a:custGeom>
              <a:avLst/>
              <a:gdLst/>
              <a:ahLst/>
              <a:cxnLst/>
              <a:rect r="r" b="b" t="t" l="l"/>
              <a:pathLst>
                <a:path h="5762117" w="9127998">
                  <a:moveTo>
                    <a:pt x="0" y="5762117"/>
                  </a:moveTo>
                  <a:lnTo>
                    <a:pt x="9127998" y="5762117"/>
                  </a:lnTo>
                  <a:lnTo>
                    <a:pt x="9127998" y="0"/>
                  </a:lnTo>
                  <a:lnTo>
                    <a:pt x="0" y="0"/>
                  </a:lnTo>
                  <a:close/>
                </a:path>
              </a:pathLst>
            </a:custGeom>
            <a:solidFill>
              <a:srgbClr val="C00000">
                <a:alpha val="0"/>
              </a:srgbClr>
            </a:solidFill>
          </p:spPr>
        </p:sp>
        <p:sp>
          <p:nvSpPr>
            <p:cNvPr name="Freeform 15" id="15"/>
            <p:cNvSpPr/>
            <p:nvPr/>
          </p:nvSpPr>
          <p:spPr>
            <a:xfrm flipH="false" flipV="false" rot="0">
              <a:off x="63500" y="63500"/>
              <a:ext cx="9124950" cy="5762625"/>
            </a:xfrm>
            <a:custGeom>
              <a:avLst/>
              <a:gdLst/>
              <a:ahLst/>
              <a:cxnLst/>
              <a:rect r="r" b="b" t="t" l="l"/>
              <a:pathLst>
                <a:path h="5762625" w="9124950">
                  <a:moveTo>
                    <a:pt x="0" y="5762625"/>
                  </a:moveTo>
                  <a:lnTo>
                    <a:pt x="9124950" y="5762625"/>
                  </a:lnTo>
                  <a:lnTo>
                    <a:pt x="9124950" y="0"/>
                  </a:lnTo>
                  <a:lnTo>
                    <a:pt x="0" y="0"/>
                  </a:lnTo>
                  <a:close/>
                </a:path>
              </a:pathLst>
            </a:custGeom>
            <a:solidFill>
              <a:srgbClr val="C00000">
                <a:alpha val="0"/>
              </a:srgbClr>
            </a:solidFill>
          </p:spPr>
        </p:sp>
      </p:grpSp>
      <p:sp>
        <p:nvSpPr>
          <p:cNvPr name="TextBox 16" id="16"/>
          <p:cNvSpPr txBox="true"/>
          <p:nvPr/>
        </p:nvSpPr>
        <p:spPr>
          <a:xfrm rot="0">
            <a:off x="5872963" y="-100432"/>
            <a:ext cx="6322990" cy="891540"/>
          </a:xfrm>
          <a:prstGeom prst="rect">
            <a:avLst/>
          </a:prstGeom>
        </p:spPr>
        <p:txBody>
          <a:bodyPr anchor="t" rtlCol="false" tIns="0" lIns="0" bIns="0" rIns="0">
            <a:spAutoFit/>
          </a:bodyPr>
          <a:lstStyle/>
          <a:p>
            <a:pPr algn="l">
              <a:lnSpc>
                <a:spcPts val="6719"/>
              </a:lnSpc>
            </a:pPr>
            <a:r>
              <a:rPr lang="en-US" b="true" sz="4800">
                <a:solidFill>
                  <a:srgbClr val="FFFFFF"/>
                </a:solidFill>
                <a:latin typeface="Arial Bold"/>
                <a:ea typeface="Arial Bold"/>
                <a:cs typeface="Arial Bold"/>
                <a:sym typeface="Arial Bold"/>
              </a:rPr>
              <a:t>Architecture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84247"/>
          </a:xfrm>
          <a:custGeom>
            <a:avLst/>
            <a:gdLst/>
            <a:ahLst/>
            <a:cxnLst/>
            <a:rect r="r" b="b" t="t" l="l"/>
            <a:pathLst>
              <a:path h="984247" w="18288000">
                <a:moveTo>
                  <a:pt x="0" y="0"/>
                </a:moveTo>
                <a:lnTo>
                  <a:pt x="18288000" y="0"/>
                </a:lnTo>
                <a:lnTo>
                  <a:pt x="18288000" y="984247"/>
                </a:lnTo>
                <a:lnTo>
                  <a:pt x="0" y="984247"/>
                </a:lnTo>
                <a:lnTo>
                  <a:pt x="0" y="0"/>
                </a:lnTo>
                <a:close/>
              </a:path>
            </a:pathLst>
          </a:custGeom>
          <a:blipFill>
            <a:blip r:embed="rId2"/>
            <a:stretch>
              <a:fillRect l="-360" t="-6451" r="-368" b="0"/>
            </a:stretch>
          </a:blipFill>
        </p:spPr>
      </p:sp>
      <p:sp>
        <p:nvSpPr>
          <p:cNvPr name="Freeform 3" id="3"/>
          <p:cNvSpPr/>
          <p:nvPr/>
        </p:nvSpPr>
        <p:spPr>
          <a:xfrm flipH="false" flipV="false" rot="0">
            <a:off x="8598256" y="2236375"/>
            <a:ext cx="8686800" cy="6191250"/>
          </a:xfrm>
          <a:custGeom>
            <a:avLst/>
            <a:gdLst/>
            <a:ahLst/>
            <a:cxnLst/>
            <a:rect r="r" b="b" t="t" l="l"/>
            <a:pathLst>
              <a:path h="6191250" w="8686800">
                <a:moveTo>
                  <a:pt x="0" y="0"/>
                </a:moveTo>
                <a:lnTo>
                  <a:pt x="8686800" y="0"/>
                </a:lnTo>
                <a:lnTo>
                  <a:pt x="8686800" y="6191250"/>
                </a:lnTo>
                <a:lnTo>
                  <a:pt x="0" y="6191250"/>
                </a:lnTo>
                <a:lnTo>
                  <a:pt x="0" y="0"/>
                </a:lnTo>
                <a:close/>
              </a:path>
            </a:pathLst>
          </a:custGeom>
          <a:blipFill>
            <a:blip r:embed="rId3"/>
            <a:stretch>
              <a:fillRect l="-4835" t="0" r="-4813" b="0"/>
            </a:stretch>
          </a:blipFill>
        </p:spPr>
      </p:sp>
      <p:sp>
        <p:nvSpPr>
          <p:cNvPr name="Freeform 4" id="4"/>
          <p:cNvSpPr/>
          <p:nvPr/>
        </p:nvSpPr>
        <p:spPr>
          <a:xfrm flipH="false" flipV="false" rot="0">
            <a:off x="1028700" y="2387717"/>
            <a:ext cx="6353175" cy="6038850"/>
          </a:xfrm>
          <a:custGeom>
            <a:avLst/>
            <a:gdLst/>
            <a:ahLst/>
            <a:cxnLst/>
            <a:rect r="r" b="b" t="t" l="l"/>
            <a:pathLst>
              <a:path h="6038850" w="6353175">
                <a:moveTo>
                  <a:pt x="0" y="0"/>
                </a:moveTo>
                <a:lnTo>
                  <a:pt x="6353175" y="0"/>
                </a:lnTo>
                <a:lnTo>
                  <a:pt x="6353175" y="6038850"/>
                </a:lnTo>
                <a:lnTo>
                  <a:pt x="0" y="6038850"/>
                </a:lnTo>
                <a:lnTo>
                  <a:pt x="0" y="0"/>
                </a:lnTo>
                <a:close/>
              </a:path>
            </a:pathLst>
          </a:custGeom>
          <a:blipFill>
            <a:blip r:embed="rId4"/>
            <a:stretch>
              <a:fillRect l="0" t="-5106" r="0" b="-98"/>
            </a:stretch>
          </a:blipFill>
        </p:spPr>
      </p:sp>
      <p:grpSp>
        <p:nvGrpSpPr>
          <p:cNvPr name="Group 5" id="5"/>
          <p:cNvGrpSpPr>
            <a:grpSpLocks noChangeAspect="true"/>
          </p:cNvGrpSpPr>
          <p:nvPr/>
        </p:nvGrpSpPr>
        <p:grpSpPr>
          <a:xfrm rot="0">
            <a:off x="965197" y="2324214"/>
            <a:ext cx="6483953" cy="6166266"/>
            <a:chOff x="0" y="0"/>
            <a:chExt cx="6483960" cy="6166269"/>
          </a:xfrm>
        </p:grpSpPr>
        <p:sp>
          <p:nvSpPr>
            <p:cNvPr name="Freeform 6" id="6"/>
            <p:cNvSpPr/>
            <p:nvPr/>
          </p:nvSpPr>
          <p:spPr>
            <a:xfrm flipH="false" flipV="false" rot="0">
              <a:off x="63500" y="63500"/>
              <a:ext cx="6356985" cy="6039231"/>
            </a:xfrm>
            <a:custGeom>
              <a:avLst/>
              <a:gdLst/>
              <a:ahLst/>
              <a:cxnLst/>
              <a:rect r="r" b="b" t="t" l="l"/>
              <a:pathLst>
                <a:path h="6039231" w="6356985">
                  <a:moveTo>
                    <a:pt x="0" y="6039231"/>
                  </a:moveTo>
                  <a:lnTo>
                    <a:pt x="6356985" y="6039231"/>
                  </a:lnTo>
                  <a:lnTo>
                    <a:pt x="6356985" y="0"/>
                  </a:lnTo>
                  <a:lnTo>
                    <a:pt x="0" y="0"/>
                  </a:lnTo>
                  <a:close/>
                </a:path>
              </a:pathLst>
            </a:custGeom>
            <a:solidFill>
              <a:srgbClr val="C00000">
                <a:alpha val="0"/>
              </a:srgbClr>
            </a:solidFill>
          </p:spPr>
        </p:sp>
        <p:sp>
          <p:nvSpPr>
            <p:cNvPr name="Freeform 7" id="7"/>
            <p:cNvSpPr/>
            <p:nvPr/>
          </p:nvSpPr>
          <p:spPr>
            <a:xfrm flipH="false" flipV="false" rot="0">
              <a:off x="63500" y="63500"/>
              <a:ext cx="6353175" cy="6038850"/>
            </a:xfrm>
            <a:custGeom>
              <a:avLst/>
              <a:gdLst/>
              <a:ahLst/>
              <a:cxnLst/>
              <a:rect r="r" b="b" t="t" l="l"/>
              <a:pathLst>
                <a:path h="6038850" w="6353175">
                  <a:moveTo>
                    <a:pt x="0" y="6038850"/>
                  </a:moveTo>
                  <a:lnTo>
                    <a:pt x="6353175" y="6038850"/>
                  </a:lnTo>
                  <a:lnTo>
                    <a:pt x="6353175" y="0"/>
                  </a:lnTo>
                  <a:lnTo>
                    <a:pt x="0" y="0"/>
                  </a:lnTo>
                  <a:close/>
                </a:path>
              </a:pathLst>
            </a:custGeom>
            <a:solidFill>
              <a:srgbClr val="C00000">
                <a:alpha val="0"/>
              </a:srgbClr>
            </a:solidFill>
          </p:spPr>
        </p:sp>
      </p:grpSp>
      <p:grpSp>
        <p:nvGrpSpPr>
          <p:cNvPr name="Group 8" id="8"/>
          <p:cNvGrpSpPr>
            <a:grpSpLocks noChangeAspect="true"/>
          </p:cNvGrpSpPr>
          <p:nvPr/>
        </p:nvGrpSpPr>
        <p:grpSpPr>
          <a:xfrm rot="0">
            <a:off x="-63503" y="-63503"/>
            <a:ext cx="18414997" cy="1107272"/>
            <a:chOff x="0" y="0"/>
            <a:chExt cx="18415000" cy="1107275"/>
          </a:xfrm>
        </p:grpSpPr>
        <p:sp>
          <p:nvSpPr>
            <p:cNvPr name="Freeform 9" id="9"/>
            <p:cNvSpPr/>
            <p:nvPr/>
          </p:nvSpPr>
          <p:spPr>
            <a:xfrm flipH="false" flipV="false" rot="0">
              <a:off x="63500" y="63500"/>
              <a:ext cx="18288000" cy="980313"/>
            </a:xfrm>
            <a:custGeom>
              <a:avLst/>
              <a:gdLst/>
              <a:ahLst/>
              <a:cxnLst/>
              <a:rect r="r" b="b" t="t" l="l"/>
              <a:pathLst>
                <a:path h="980313" w="18288000">
                  <a:moveTo>
                    <a:pt x="0" y="0"/>
                  </a:moveTo>
                  <a:lnTo>
                    <a:pt x="0" y="980313"/>
                  </a:lnTo>
                  <a:lnTo>
                    <a:pt x="18288000" y="980313"/>
                  </a:lnTo>
                  <a:lnTo>
                    <a:pt x="18288000" y="0"/>
                  </a:lnTo>
                  <a:close/>
                </a:path>
              </a:pathLst>
            </a:custGeom>
            <a:solidFill>
              <a:srgbClr val="C00000">
                <a:alpha val="0"/>
              </a:srgbClr>
            </a:solidFill>
          </p:spPr>
        </p:sp>
        <p:sp>
          <p:nvSpPr>
            <p:cNvPr name="Freeform 10" id="10"/>
            <p:cNvSpPr/>
            <p:nvPr/>
          </p:nvSpPr>
          <p:spPr>
            <a:xfrm flipH="false" flipV="false" rot="0">
              <a:off x="63500" y="63500"/>
              <a:ext cx="18288000" cy="916813"/>
            </a:xfrm>
            <a:custGeom>
              <a:avLst/>
              <a:gdLst/>
              <a:ahLst/>
              <a:cxnLst/>
              <a:rect r="r" b="b" t="t" l="l"/>
              <a:pathLst>
                <a:path h="916813" w="18288000">
                  <a:moveTo>
                    <a:pt x="0" y="916813"/>
                  </a:moveTo>
                  <a:lnTo>
                    <a:pt x="18288000" y="916813"/>
                  </a:lnTo>
                  <a:lnTo>
                    <a:pt x="18288000" y="0"/>
                  </a:lnTo>
                  <a:lnTo>
                    <a:pt x="0" y="0"/>
                  </a:lnTo>
                  <a:close/>
                </a:path>
              </a:pathLst>
            </a:custGeom>
            <a:solidFill>
              <a:srgbClr val="C00000">
                <a:alpha val="0"/>
              </a:srgbClr>
            </a:solidFill>
          </p:spPr>
        </p:sp>
      </p:grpSp>
      <p:grpSp>
        <p:nvGrpSpPr>
          <p:cNvPr name="Group 11" id="11"/>
          <p:cNvGrpSpPr>
            <a:grpSpLocks noChangeAspect="true"/>
          </p:cNvGrpSpPr>
          <p:nvPr/>
        </p:nvGrpSpPr>
        <p:grpSpPr>
          <a:xfrm rot="0">
            <a:off x="8534752" y="2172872"/>
            <a:ext cx="8813797" cy="6318247"/>
            <a:chOff x="0" y="0"/>
            <a:chExt cx="8813800" cy="6318250"/>
          </a:xfrm>
        </p:grpSpPr>
        <p:sp>
          <p:nvSpPr>
            <p:cNvPr name="Freeform 12" id="12"/>
            <p:cNvSpPr/>
            <p:nvPr/>
          </p:nvSpPr>
          <p:spPr>
            <a:xfrm flipH="false" flipV="false" rot="0">
              <a:off x="63500" y="63500"/>
              <a:ext cx="8686800" cy="6191250"/>
            </a:xfrm>
            <a:custGeom>
              <a:avLst/>
              <a:gdLst/>
              <a:ahLst/>
              <a:cxnLst/>
              <a:rect r="r" b="b" t="t" l="l"/>
              <a:pathLst>
                <a:path h="6191250" w="8686800">
                  <a:moveTo>
                    <a:pt x="0" y="6191250"/>
                  </a:moveTo>
                  <a:lnTo>
                    <a:pt x="8686800" y="6191250"/>
                  </a:lnTo>
                  <a:lnTo>
                    <a:pt x="8686800" y="0"/>
                  </a:lnTo>
                  <a:lnTo>
                    <a:pt x="0" y="0"/>
                  </a:lnTo>
                  <a:close/>
                </a:path>
              </a:pathLst>
            </a:custGeom>
            <a:solidFill>
              <a:srgbClr val="C00000">
                <a:alpha val="0"/>
              </a:srgbClr>
            </a:solidFill>
          </p:spPr>
        </p:sp>
        <p:sp>
          <p:nvSpPr>
            <p:cNvPr name="Freeform 13" id="13"/>
            <p:cNvSpPr/>
            <p:nvPr/>
          </p:nvSpPr>
          <p:spPr>
            <a:xfrm flipH="false" flipV="false" rot="0">
              <a:off x="63500" y="63500"/>
              <a:ext cx="8683879" cy="6190615"/>
            </a:xfrm>
            <a:custGeom>
              <a:avLst/>
              <a:gdLst/>
              <a:ahLst/>
              <a:cxnLst/>
              <a:rect r="r" b="b" t="t" l="l"/>
              <a:pathLst>
                <a:path h="6190615" w="8683879">
                  <a:moveTo>
                    <a:pt x="0" y="6190615"/>
                  </a:moveTo>
                  <a:lnTo>
                    <a:pt x="8683879" y="6190615"/>
                  </a:lnTo>
                  <a:lnTo>
                    <a:pt x="8683879" y="0"/>
                  </a:lnTo>
                  <a:lnTo>
                    <a:pt x="0" y="0"/>
                  </a:lnTo>
                  <a:close/>
                </a:path>
              </a:pathLst>
            </a:custGeom>
            <a:solidFill>
              <a:srgbClr val="C00000">
                <a:alpha val="0"/>
              </a:srgbClr>
            </a:solidFill>
          </p:spPr>
        </p:sp>
      </p:grpSp>
      <p:sp>
        <p:nvSpPr>
          <p:cNvPr name="TextBox 14" id="14"/>
          <p:cNvSpPr txBox="true"/>
          <p:nvPr/>
        </p:nvSpPr>
        <p:spPr>
          <a:xfrm rot="0">
            <a:off x="6837102" y="8001"/>
            <a:ext cx="4353154"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Database Design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grpSp>
        <p:nvGrpSpPr>
          <p:cNvPr name="Group 3" id="3"/>
          <p:cNvGrpSpPr>
            <a:grpSpLocks noChangeAspect="true"/>
          </p:cNvGrpSpPr>
          <p:nvPr/>
        </p:nvGrpSpPr>
        <p:grpSpPr>
          <a:xfrm rot="0">
            <a:off x="0" y="0"/>
            <a:ext cx="18288000" cy="932650"/>
            <a:chOff x="0" y="0"/>
            <a:chExt cx="18288000" cy="932650"/>
          </a:xfrm>
        </p:grpSpPr>
        <p:sp>
          <p:nvSpPr>
            <p:cNvPr name="Freeform 4" id="4"/>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sp>
        <p:nvSpPr>
          <p:cNvPr name="Freeform 5" id="5"/>
          <p:cNvSpPr/>
          <p:nvPr/>
        </p:nvSpPr>
        <p:spPr>
          <a:xfrm flipH="false" flipV="false" rot="0">
            <a:off x="3957847" y="4208459"/>
            <a:ext cx="212722" cy="212722"/>
          </a:xfrm>
          <a:custGeom>
            <a:avLst/>
            <a:gdLst/>
            <a:ahLst/>
            <a:cxnLst/>
            <a:rect r="r" b="b" t="t" l="l"/>
            <a:pathLst>
              <a:path h="212722" w="212722">
                <a:moveTo>
                  <a:pt x="0" y="0"/>
                </a:moveTo>
                <a:lnTo>
                  <a:pt x="212722" y="0"/>
                </a:lnTo>
                <a:lnTo>
                  <a:pt x="212722" y="212722"/>
                </a:lnTo>
                <a:lnTo>
                  <a:pt x="0" y="2127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957847" y="5437184"/>
            <a:ext cx="212722" cy="212722"/>
          </a:xfrm>
          <a:custGeom>
            <a:avLst/>
            <a:gdLst/>
            <a:ahLst/>
            <a:cxnLst/>
            <a:rect r="r" b="b" t="t" l="l"/>
            <a:pathLst>
              <a:path h="212722" w="212722">
                <a:moveTo>
                  <a:pt x="0" y="0"/>
                </a:moveTo>
                <a:lnTo>
                  <a:pt x="212722" y="0"/>
                </a:lnTo>
                <a:lnTo>
                  <a:pt x="212722" y="212722"/>
                </a:lnTo>
                <a:lnTo>
                  <a:pt x="0" y="212722"/>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57847" y="7075484"/>
            <a:ext cx="212722" cy="212722"/>
          </a:xfrm>
          <a:custGeom>
            <a:avLst/>
            <a:gdLst/>
            <a:ahLst/>
            <a:cxnLst/>
            <a:rect r="r" b="b" t="t" l="l"/>
            <a:pathLst>
              <a:path h="212722" w="212722">
                <a:moveTo>
                  <a:pt x="0" y="0"/>
                </a:moveTo>
                <a:lnTo>
                  <a:pt x="212722" y="0"/>
                </a:lnTo>
                <a:lnTo>
                  <a:pt x="212722" y="212722"/>
                </a:lnTo>
                <a:lnTo>
                  <a:pt x="0" y="212722"/>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6097572" y="8001"/>
            <a:ext cx="5860380"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Algorithm Explanation</a:t>
            </a:r>
          </a:p>
        </p:txBody>
      </p:sp>
      <p:sp>
        <p:nvSpPr>
          <p:cNvPr name="TextBox 9" id="9"/>
          <p:cNvSpPr txBox="true"/>
          <p:nvPr/>
        </p:nvSpPr>
        <p:spPr>
          <a:xfrm rot="0">
            <a:off x="3668925" y="2552224"/>
            <a:ext cx="1795596" cy="756180"/>
          </a:xfrm>
          <a:prstGeom prst="rect">
            <a:avLst/>
          </a:prstGeom>
        </p:spPr>
        <p:txBody>
          <a:bodyPr anchor="t" rtlCol="false" tIns="0" lIns="0" bIns="0" rIns="0">
            <a:spAutoFit/>
          </a:bodyPr>
          <a:lstStyle/>
          <a:p>
            <a:pPr algn="l">
              <a:lnSpc>
                <a:spcPts val="6451"/>
              </a:lnSpc>
            </a:pPr>
            <a:r>
              <a:rPr lang="en-US" b="true" sz="2699" spc="24">
                <a:solidFill>
                  <a:srgbClr val="000000"/>
                </a:solidFill>
                <a:latin typeface="Arial Bold"/>
                <a:ea typeface="Arial Bold"/>
                <a:cs typeface="Arial Bold"/>
                <a:sym typeface="Arial Bold"/>
              </a:rPr>
              <a:t>Algorithm:</a:t>
            </a:r>
          </a:p>
        </p:txBody>
      </p:sp>
      <p:sp>
        <p:nvSpPr>
          <p:cNvPr name="TextBox 10" id="10"/>
          <p:cNvSpPr txBox="true"/>
          <p:nvPr/>
        </p:nvSpPr>
        <p:spPr>
          <a:xfrm rot="0">
            <a:off x="3668925" y="3371374"/>
            <a:ext cx="1086974" cy="756180"/>
          </a:xfrm>
          <a:prstGeom prst="rect">
            <a:avLst/>
          </a:prstGeom>
        </p:spPr>
        <p:txBody>
          <a:bodyPr anchor="t" rtlCol="false" tIns="0" lIns="0" bIns="0" rIns="0">
            <a:spAutoFit/>
          </a:bodyPr>
          <a:lstStyle/>
          <a:p>
            <a:pPr algn="l">
              <a:lnSpc>
                <a:spcPts val="6451"/>
              </a:lnSpc>
            </a:pPr>
            <a:r>
              <a:rPr lang="en-US" b="true" sz="2699" spc="24">
                <a:solidFill>
                  <a:srgbClr val="000000"/>
                </a:solidFill>
                <a:latin typeface="Arial Bold"/>
                <a:ea typeface="Arial Bold"/>
                <a:cs typeface="Arial Bold"/>
                <a:sym typeface="Arial Bold"/>
              </a:rPr>
              <a:t>Input: </a:t>
            </a:r>
          </a:p>
        </p:txBody>
      </p:sp>
      <p:sp>
        <p:nvSpPr>
          <p:cNvPr name="TextBox 11" id="11"/>
          <p:cNvSpPr txBox="true"/>
          <p:nvPr/>
        </p:nvSpPr>
        <p:spPr>
          <a:xfrm rot="0">
            <a:off x="4251741" y="4279754"/>
            <a:ext cx="6165675" cy="270405"/>
          </a:xfrm>
          <a:prstGeom prst="rect">
            <a:avLst/>
          </a:prstGeom>
        </p:spPr>
        <p:txBody>
          <a:bodyPr anchor="t" rtlCol="false" tIns="0" lIns="0" bIns="0" rIns="0">
            <a:spAutoFit/>
          </a:bodyPr>
          <a:lstStyle/>
          <a:p>
            <a:pPr algn="l">
              <a:lnSpc>
                <a:spcPts val="1349"/>
              </a:lnSpc>
            </a:pPr>
            <a:r>
              <a:rPr lang="en-US" sz="2699" spc="24">
                <a:solidFill>
                  <a:srgbClr val="000000"/>
                </a:solidFill>
                <a:latin typeface="Arial"/>
                <a:ea typeface="Arial"/>
                <a:cs typeface="Arial"/>
                <a:sym typeface="Arial"/>
              </a:rPr>
              <a:t>User decides to explore the virtual zoo.</a:t>
            </a:r>
          </a:p>
        </p:txBody>
      </p:sp>
      <p:sp>
        <p:nvSpPr>
          <p:cNvPr name="TextBox 12" id="12"/>
          <p:cNvSpPr txBox="true"/>
          <p:nvPr/>
        </p:nvSpPr>
        <p:spPr>
          <a:xfrm rot="0">
            <a:off x="3668925" y="4571524"/>
            <a:ext cx="1599162" cy="784755"/>
          </a:xfrm>
          <a:prstGeom prst="rect">
            <a:avLst/>
          </a:prstGeom>
        </p:spPr>
        <p:txBody>
          <a:bodyPr anchor="t" rtlCol="false" tIns="0" lIns="0" bIns="0" rIns="0">
            <a:spAutoFit/>
          </a:bodyPr>
          <a:lstStyle/>
          <a:p>
            <a:pPr algn="l">
              <a:lnSpc>
                <a:spcPts val="6748"/>
              </a:lnSpc>
            </a:pPr>
            <a:r>
              <a:rPr lang="en-US" b="true" sz="2699" spc="24">
                <a:solidFill>
                  <a:srgbClr val="000000"/>
                </a:solidFill>
                <a:latin typeface="Arial Bold"/>
                <a:ea typeface="Arial Bold"/>
                <a:cs typeface="Arial Bold"/>
                <a:sym typeface="Arial Bold"/>
              </a:rPr>
              <a:t>Process: </a:t>
            </a:r>
          </a:p>
        </p:txBody>
      </p:sp>
      <p:sp>
        <p:nvSpPr>
          <p:cNvPr name="TextBox 13" id="13"/>
          <p:cNvSpPr txBox="true"/>
          <p:nvPr/>
        </p:nvSpPr>
        <p:spPr>
          <a:xfrm rot="0">
            <a:off x="4251741" y="5508479"/>
            <a:ext cx="9809617" cy="679980"/>
          </a:xfrm>
          <a:prstGeom prst="rect">
            <a:avLst/>
          </a:prstGeom>
        </p:spPr>
        <p:txBody>
          <a:bodyPr anchor="t" rtlCol="false" tIns="0" lIns="0" bIns="0" rIns="0">
            <a:spAutoFit/>
          </a:bodyPr>
          <a:lstStyle/>
          <a:p>
            <a:pPr algn="l">
              <a:lnSpc>
                <a:spcPts val="1349"/>
              </a:lnSpc>
            </a:pPr>
            <a:r>
              <a:rPr lang="en-US" sz="2699" spc="24">
                <a:solidFill>
                  <a:srgbClr val="000000"/>
                </a:solidFill>
                <a:latin typeface="Arial"/>
                <a:ea typeface="Arial"/>
                <a:cs typeface="Arial"/>
                <a:sym typeface="Arial"/>
              </a:rPr>
              <a:t>Initialize the VR environment, load necessary assets (animals,</a:t>
            </a:r>
          </a:p>
          <a:p>
            <a:pPr algn="l">
              <a:lnSpc>
                <a:spcPts val="5101"/>
              </a:lnSpc>
            </a:pPr>
            <a:r>
              <a:rPr lang="en-US" sz="2699" spc="24">
                <a:solidFill>
                  <a:srgbClr val="000000"/>
                </a:solidFill>
                <a:latin typeface="Arial"/>
                <a:ea typeface="Arial"/>
                <a:cs typeface="Arial"/>
                <a:sym typeface="Arial"/>
              </a:rPr>
              <a:t>terrain), and enable VR interaction settings.</a:t>
            </a:r>
          </a:p>
        </p:txBody>
      </p:sp>
      <p:sp>
        <p:nvSpPr>
          <p:cNvPr name="TextBox 14" id="14"/>
          <p:cNvSpPr txBox="true"/>
          <p:nvPr/>
        </p:nvSpPr>
        <p:spPr>
          <a:xfrm rot="0">
            <a:off x="3668925" y="6209824"/>
            <a:ext cx="1381325" cy="784755"/>
          </a:xfrm>
          <a:prstGeom prst="rect">
            <a:avLst/>
          </a:prstGeom>
        </p:spPr>
        <p:txBody>
          <a:bodyPr anchor="t" rtlCol="false" tIns="0" lIns="0" bIns="0" rIns="0">
            <a:spAutoFit/>
          </a:bodyPr>
          <a:lstStyle/>
          <a:p>
            <a:pPr algn="l">
              <a:lnSpc>
                <a:spcPts val="6748"/>
              </a:lnSpc>
            </a:pPr>
            <a:r>
              <a:rPr lang="en-US" b="true" sz="2699" spc="24">
                <a:solidFill>
                  <a:srgbClr val="000000"/>
                </a:solidFill>
                <a:latin typeface="Arial Bold"/>
                <a:ea typeface="Arial Bold"/>
                <a:cs typeface="Arial Bold"/>
                <a:sym typeface="Arial Bold"/>
              </a:rPr>
              <a:t>Output: </a:t>
            </a:r>
          </a:p>
        </p:txBody>
      </p:sp>
      <p:sp>
        <p:nvSpPr>
          <p:cNvPr name="TextBox 15" id="15"/>
          <p:cNvSpPr txBox="true"/>
          <p:nvPr/>
        </p:nvSpPr>
        <p:spPr>
          <a:xfrm rot="0">
            <a:off x="4251741" y="7146779"/>
            <a:ext cx="9677124" cy="270405"/>
          </a:xfrm>
          <a:prstGeom prst="rect">
            <a:avLst/>
          </a:prstGeom>
        </p:spPr>
        <p:txBody>
          <a:bodyPr anchor="t" rtlCol="false" tIns="0" lIns="0" bIns="0" rIns="0">
            <a:spAutoFit/>
          </a:bodyPr>
          <a:lstStyle/>
          <a:p>
            <a:pPr algn="l">
              <a:lnSpc>
                <a:spcPts val="1349"/>
              </a:lnSpc>
            </a:pPr>
            <a:r>
              <a:rPr lang="en-US" sz="2699" spc="24">
                <a:solidFill>
                  <a:srgbClr val="000000"/>
                </a:solidFill>
                <a:latin typeface="Arial"/>
                <a:ea typeface="Arial"/>
                <a:cs typeface="Arial"/>
                <a:sym typeface="Arial"/>
              </a:rPr>
              <a:t>User is ready to interact with the environment in a VR setting.</a:t>
            </a:r>
          </a:p>
        </p:txBody>
      </p:sp>
      <p:sp>
        <p:nvSpPr>
          <p:cNvPr name="TextBox 16" id="16"/>
          <p:cNvSpPr txBox="true"/>
          <p:nvPr/>
        </p:nvSpPr>
        <p:spPr>
          <a:xfrm rot="0">
            <a:off x="3065078" y="1756000"/>
            <a:ext cx="6045365" cy="539077"/>
          </a:xfrm>
          <a:prstGeom prst="rect">
            <a:avLst/>
          </a:prstGeom>
        </p:spPr>
        <p:txBody>
          <a:bodyPr anchor="t" rtlCol="false" tIns="0" lIns="0" bIns="0" rIns="0">
            <a:spAutoFit/>
          </a:bodyPr>
          <a:lstStyle/>
          <a:p>
            <a:pPr algn="l">
              <a:lnSpc>
                <a:spcPts val="4339"/>
              </a:lnSpc>
            </a:pPr>
            <a:r>
              <a:rPr lang="en-US" b="true" sz="3099" i="true" spc="27">
                <a:solidFill>
                  <a:srgbClr val="000000"/>
                </a:solidFill>
                <a:latin typeface="Glacial Indifference Bold Italics"/>
                <a:ea typeface="Glacial Indifference Bold Italics"/>
                <a:cs typeface="Glacial Indifference Bold Italics"/>
                <a:sym typeface="Glacial Indifference Bold Italics"/>
              </a:rPr>
              <a:t>Introduction to the Project Logic</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grpSp>
        <p:nvGrpSpPr>
          <p:cNvPr name="Group 3" id="3"/>
          <p:cNvGrpSpPr>
            <a:grpSpLocks noChangeAspect="true"/>
          </p:cNvGrpSpPr>
          <p:nvPr/>
        </p:nvGrpSpPr>
        <p:grpSpPr>
          <a:xfrm rot="0">
            <a:off x="0" y="0"/>
            <a:ext cx="18288000" cy="932650"/>
            <a:chOff x="0" y="0"/>
            <a:chExt cx="18288000" cy="932650"/>
          </a:xfrm>
        </p:grpSpPr>
        <p:sp>
          <p:nvSpPr>
            <p:cNvPr name="Freeform 4" id="4"/>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sp>
        <p:nvSpPr>
          <p:cNvPr name="Freeform 5" id="5"/>
          <p:cNvSpPr/>
          <p:nvPr/>
        </p:nvSpPr>
        <p:spPr>
          <a:xfrm flipH="false" flipV="false" rot="0">
            <a:off x="3862511" y="3969487"/>
            <a:ext cx="212722" cy="212722"/>
          </a:xfrm>
          <a:custGeom>
            <a:avLst/>
            <a:gdLst/>
            <a:ahLst/>
            <a:cxnLst/>
            <a:rect r="r" b="b" t="t" l="l"/>
            <a:pathLst>
              <a:path h="212722" w="212722">
                <a:moveTo>
                  <a:pt x="0" y="0"/>
                </a:moveTo>
                <a:lnTo>
                  <a:pt x="212722" y="0"/>
                </a:lnTo>
                <a:lnTo>
                  <a:pt x="212722" y="212721"/>
                </a:lnTo>
                <a:lnTo>
                  <a:pt x="0" y="2127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862511" y="5198212"/>
            <a:ext cx="212722" cy="212722"/>
          </a:xfrm>
          <a:custGeom>
            <a:avLst/>
            <a:gdLst/>
            <a:ahLst/>
            <a:cxnLst/>
            <a:rect r="r" b="b" t="t" l="l"/>
            <a:pathLst>
              <a:path h="212722" w="212722">
                <a:moveTo>
                  <a:pt x="0" y="0"/>
                </a:moveTo>
                <a:lnTo>
                  <a:pt x="212722" y="0"/>
                </a:lnTo>
                <a:lnTo>
                  <a:pt x="212722" y="212721"/>
                </a:lnTo>
                <a:lnTo>
                  <a:pt x="0" y="212721"/>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862511" y="6836512"/>
            <a:ext cx="212722" cy="212722"/>
          </a:xfrm>
          <a:custGeom>
            <a:avLst/>
            <a:gdLst/>
            <a:ahLst/>
            <a:cxnLst/>
            <a:rect r="r" b="b" t="t" l="l"/>
            <a:pathLst>
              <a:path h="212722" w="212722">
                <a:moveTo>
                  <a:pt x="0" y="0"/>
                </a:moveTo>
                <a:lnTo>
                  <a:pt x="212722" y="0"/>
                </a:lnTo>
                <a:lnTo>
                  <a:pt x="212722" y="212721"/>
                </a:lnTo>
                <a:lnTo>
                  <a:pt x="0" y="212721"/>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862511" y="8065237"/>
            <a:ext cx="212722" cy="212722"/>
          </a:xfrm>
          <a:custGeom>
            <a:avLst/>
            <a:gdLst/>
            <a:ahLst/>
            <a:cxnLst/>
            <a:rect r="r" b="b" t="t" l="l"/>
            <a:pathLst>
              <a:path h="212722" w="212722">
                <a:moveTo>
                  <a:pt x="0" y="0"/>
                </a:moveTo>
                <a:lnTo>
                  <a:pt x="212722" y="0"/>
                </a:lnTo>
                <a:lnTo>
                  <a:pt x="212722" y="212721"/>
                </a:lnTo>
                <a:lnTo>
                  <a:pt x="0" y="212721"/>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6097572" y="8001"/>
            <a:ext cx="5860380"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Algorithm Explanation</a:t>
            </a:r>
          </a:p>
        </p:txBody>
      </p:sp>
      <p:sp>
        <p:nvSpPr>
          <p:cNvPr name="TextBox 10" id="10"/>
          <p:cNvSpPr txBox="true"/>
          <p:nvPr/>
        </p:nvSpPr>
        <p:spPr>
          <a:xfrm rot="0">
            <a:off x="3573590" y="2360867"/>
            <a:ext cx="1795596" cy="725537"/>
          </a:xfrm>
          <a:prstGeom prst="rect">
            <a:avLst/>
          </a:prstGeom>
        </p:spPr>
        <p:txBody>
          <a:bodyPr anchor="t" rtlCol="false" tIns="0" lIns="0" bIns="0" rIns="0">
            <a:spAutoFit/>
          </a:bodyPr>
          <a:lstStyle/>
          <a:p>
            <a:pPr algn="l">
              <a:lnSpc>
                <a:spcPts val="6451"/>
              </a:lnSpc>
            </a:pPr>
            <a:r>
              <a:rPr lang="en-US" b="true" sz="2699" spc="24">
                <a:solidFill>
                  <a:srgbClr val="000000"/>
                </a:solidFill>
                <a:latin typeface="TT Rounds Condensed Bold"/>
                <a:ea typeface="TT Rounds Condensed Bold"/>
                <a:cs typeface="TT Rounds Condensed Bold"/>
                <a:sym typeface="TT Rounds Condensed Bold"/>
              </a:rPr>
              <a:t>Algorithm:</a:t>
            </a:r>
          </a:p>
        </p:txBody>
      </p:sp>
      <p:sp>
        <p:nvSpPr>
          <p:cNvPr name="TextBox 11" id="11"/>
          <p:cNvSpPr txBox="true"/>
          <p:nvPr/>
        </p:nvSpPr>
        <p:spPr>
          <a:xfrm rot="0">
            <a:off x="3573590" y="3180017"/>
            <a:ext cx="1028986" cy="725537"/>
          </a:xfrm>
          <a:prstGeom prst="rect">
            <a:avLst/>
          </a:prstGeom>
        </p:spPr>
        <p:txBody>
          <a:bodyPr anchor="t" rtlCol="false" tIns="0" lIns="0" bIns="0" rIns="0">
            <a:spAutoFit/>
          </a:bodyPr>
          <a:lstStyle/>
          <a:p>
            <a:pPr algn="l">
              <a:lnSpc>
                <a:spcPts val="6451"/>
              </a:lnSpc>
            </a:pPr>
            <a:r>
              <a:rPr lang="en-US" b="true" sz="2699" spc="24">
                <a:solidFill>
                  <a:srgbClr val="000000"/>
                </a:solidFill>
                <a:latin typeface="TT Rounds Condensed Bold"/>
                <a:ea typeface="TT Rounds Condensed Bold"/>
                <a:cs typeface="TT Rounds Condensed Bold"/>
                <a:sym typeface="TT Rounds Condensed Bold"/>
              </a:rPr>
              <a:t>Start: </a:t>
            </a:r>
          </a:p>
        </p:txBody>
      </p:sp>
      <p:sp>
        <p:nvSpPr>
          <p:cNvPr name="TextBox 12" id="12"/>
          <p:cNvSpPr txBox="true"/>
          <p:nvPr/>
        </p:nvSpPr>
        <p:spPr>
          <a:xfrm rot="0">
            <a:off x="4156396" y="4088397"/>
            <a:ext cx="6767351" cy="230438"/>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Initialize the XR settings for VR interaction.</a:t>
            </a:r>
          </a:p>
        </p:txBody>
      </p:sp>
      <p:sp>
        <p:nvSpPr>
          <p:cNvPr name="TextBox 13" id="13"/>
          <p:cNvSpPr txBox="true"/>
          <p:nvPr/>
        </p:nvSpPr>
        <p:spPr>
          <a:xfrm rot="0">
            <a:off x="3573590" y="4380166"/>
            <a:ext cx="2110245" cy="744979"/>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Load Scene:</a:t>
            </a:r>
          </a:p>
        </p:txBody>
      </p:sp>
      <p:sp>
        <p:nvSpPr>
          <p:cNvPr name="TextBox 14" id="14"/>
          <p:cNvSpPr txBox="true"/>
          <p:nvPr/>
        </p:nvSpPr>
        <p:spPr>
          <a:xfrm rot="0">
            <a:off x="4156396" y="5317122"/>
            <a:ext cx="8311563" cy="230438"/>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 Load the default virtual zoo scene (terrain, animals).</a:t>
            </a:r>
          </a:p>
        </p:txBody>
      </p:sp>
      <p:sp>
        <p:nvSpPr>
          <p:cNvPr name="TextBox 15" id="15"/>
          <p:cNvSpPr txBox="true"/>
          <p:nvPr/>
        </p:nvSpPr>
        <p:spPr>
          <a:xfrm rot="0">
            <a:off x="3573590" y="5364747"/>
            <a:ext cx="9441828" cy="1344834"/>
          </a:xfrm>
          <a:prstGeom prst="rect">
            <a:avLst/>
          </a:prstGeom>
        </p:spPr>
        <p:txBody>
          <a:bodyPr anchor="t" rtlCol="false" tIns="0" lIns="0" bIns="0" rIns="0">
            <a:spAutoFit/>
          </a:bodyPr>
          <a:lstStyle/>
          <a:p>
            <a:pPr algn="l">
              <a:lnSpc>
                <a:spcPts val="5101"/>
              </a:lnSpc>
            </a:pPr>
            <a:r>
              <a:rPr lang="en-US" sz="2699" spc="24">
                <a:solidFill>
                  <a:srgbClr val="000000"/>
                </a:solidFill>
                <a:latin typeface="TT Rounds Condensed"/>
                <a:ea typeface="TT Rounds Condensed"/>
                <a:cs typeface="TT Rounds Condensed"/>
                <a:sym typeface="TT Rounds Condensed"/>
              </a:rPr>
              <a:t>Activate VR Mode: Enable Oculus Quest 2 and VR controls.</a:t>
            </a:r>
          </a:p>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Display: </a:t>
            </a:r>
          </a:p>
        </p:txBody>
      </p:sp>
      <p:sp>
        <p:nvSpPr>
          <p:cNvPr name="TextBox 16" id="16"/>
          <p:cNvSpPr txBox="true"/>
          <p:nvPr/>
        </p:nvSpPr>
        <p:spPr>
          <a:xfrm rot="0">
            <a:off x="4156396" y="6955422"/>
            <a:ext cx="7933287" cy="230438"/>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Show the initial view of the zoo scene for the user.</a:t>
            </a:r>
          </a:p>
        </p:txBody>
      </p:sp>
      <p:sp>
        <p:nvSpPr>
          <p:cNvPr name="TextBox 17" id="17"/>
          <p:cNvSpPr txBox="true"/>
          <p:nvPr/>
        </p:nvSpPr>
        <p:spPr>
          <a:xfrm rot="0">
            <a:off x="3573590" y="7247192"/>
            <a:ext cx="4355478" cy="744979"/>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Wait for User Interaction: </a:t>
            </a:r>
          </a:p>
        </p:txBody>
      </p:sp>
      <p:sp>
        <p:nvSpPr>
          <p:cNvPr name="TextBox 18" id="18"/>
          <p:cNvSpPr txBox="true"/>
          <p:nvPr/>
        </p:nvSpPr>
        <p:spPr>
          <a:xfrm rot="0">
            <a:off x="4156396" y="8184147"/>
            <a:ext cx="9320889" cy="230438"/>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Await input from the user to interact with animals or objects</a:t>
            </a:r>
          </a:p>
        </p:txBody>
      </p:sp>
      <p:sp>
        <p:nvSpPr>
          <p:cNvPr name="TextBox 19" id="19"/>
          <p:cNvSpPr txBox="true"/>
          <p:nvPr/>
        </p:nvSpPr>
        <p:spPr>
          <a:xfrm rot="0">
            <a:off x="3065231" y="1593980"/>
            <a:ext cx="7785564" cy="530866"/>
          </a:xfrm>
          <a:prstGeom prst="rect">
            <a:avLst/>
          </a:prstGeom>
        </p:spPr>
        <p:txBody>
          <a:bodyPr anchor="t" rtlCol="false" tIns="0" lIns="0" bIns="0" rIns="0">
            <a:spAutoFit/>
          </a:bodyPr>
          <a:lstStyle/>
          <a:p>
            <a:pPr algn="l">
              <a:lnSpc>
                <a:spcPts val="4339"/>
              </a:lnSpc>
            </a:pPr>
            <a:r>
              <a:rPr lang="en-US" b="true" sz="3099" i="true" spc="27">
                <a:solidFill>
                  <a:srgbClr val="000000"/>
                </a:solidFill>
                <a:latin typeface="TT Rounds Condensed Bold Italics"/>
                <a:ea typeface="TT Rounds Condensed Bold Italics"/>
                <a:cs typeface="TT Rounds Condensed Bold Italics"/>
                <a:sym typeface="TT Rounds Condensed Bold Italics"/>
              </a:rPr>
              <a:t>Setting up the Environment (Initialization)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grpSp>
        <p:nvGrpSpPr>
          <p:cNvPr name="Group 3" id="3"/>
          <p:cNvGrpSpPr>
            <a:grpSpLocks noChangeAspect="true"/>
          </p:cNvGrpSpPr>
          <p:nvPr/>
        </p:nvGrpSpPr>
        <p:grpSpPr>
          <a:xfrm rot="0">
            <a:off x="0" y="0"/>
            <a:ext cx="18288000" cy="932650"/>
            <a:chOff x="0" y="0"/>
            <a:chExt cx="18288000" cy="932650"/>
          </a:xfrm>
        </p:grpSpPr>
        <p:sp>
          <p:nvSpPr>
            <p:cNvPr name="Freeform 4" id="4"/>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sp>
        <p:nvSpPr>
          <p:cNvPr name="Freeform 5" id="5"/>
          <p:cNvSpPr/>
          <p:nvPr/>
        </p:nvSpPr>
        <p:spPr>
          <a:xfrm flipH="false" flipV="false" rot="0">
            <a:off x="3663353" y="3732314"/>
            <a:ext cx="231772" cy="231772"/>
          </a:xfrm>
          <a:custGeom>
            <a:avLst/>
            <a:gdLst/>
            <a:ahLst/>
            <a:cxnLst/>
            <a:rect r="r" b="b" t="t" l="l"/>
            <a:pathLst>
              <a:path h="231772" w="231772">
                <a:moveTo>
                  <a:pt x="0" y="0"/>
                </a:moveTo>
                <a:lnTo>
                  <a:pt x="231772" y="0"/>
                </a:lnTo>
                <a:lnTo>
                  <a:pt x="231772" y="231772"/>
                </a:lnTo>
                <a:lnTo>
                  <a:pt x="0" y="231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663353" y="4961039"/>
            <a:ext cx="231772" cy="231772"/>
          </a:xfrm>
          <a:custGeom>
            <a:avLst/>
            <a:gdLst/>
            <a:ahLst/>
            <a:cxnLst/>
            <a:rect r="r" b="b" t="t" l="l"/>
            <a:pathLst>
              <a:path h="231772" w="231772">
                <a:moveTo>
                  <a:pt x="0" y="0"/>
                </a:moveTo>
                <a:lnTo>
                  <a:pt x="231772" y="0"/>
                </a:lnTo>
                <a:lnTo>
                  <a:pt x="231772" y="231772"/>
                </a:lnTo>
                <a:lnTo>
                  <a:pt x="0" y="231772"/>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663353" y="6189764"/>
            <a:ext cx="231772" cy="231772"/>
          </a:xfrm>
          <a:custGeom>
            <a:avLst/>
            <a:gdLst/>
            <a:ahLst/>
            <a:cxnLst/>
            <a:rect r="r" b="b" t="t" l="l"/>
            <a:pathLst>
              <a:path h="231772" w="231772">
                <a:moveTo>
                  <a:pt x="0" y="0"/>
                </a:moveTo>
                <a:lnTo>
                  <a:pt x="231772" y="0"/>
                </a:lnTo>
                <a:lnTo>
                  <a:pt x="231772" y="231772"/>
                </a:lnTo>
                <a:lnTo>
                  <a:pt x="0" y="231772"/>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663353" y="6599339"/>
            <a:ext cx="231772" cy="231772"/>
          </a:xfrm>
          <a:custGeom>
            <a:avLst/>
            <a:gdLst/>
            <a:ahLst/>
            <a:cxnLst/>
            <a:rect r="r" b="b" t="t" l="l"/>
            <a:pathLst>
              <a:path h="231772" w="231772">
                <a:moveTo>
                  <a:pt x="0" y="0"/>
                </a:moveTo>
                <a:lnTo>
                  <a:pt x="231772" y="0"/>
                </a:lnTo>
                <a:lnTo>
                  <a:pt x="231772" y="231772"/>
                </a:lnTo>
                <a:lnTo>
                  <a:pt x="0" y="231772"/>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63353" y="7828064"/>
            <a:ext cx="231772" cy="231772"/>
          </a:xfrm>
          <a:custGeom>
            <a:avLst/>
            <a:gdLst/>
            <a:ahLst/>
            <a:cxnLst/>
            <a:rect r="r" b="b" t="t" l="l"/>
            <a:pathLst>
              <a:path h="231772" w="231772">
                <a:moveTo>
                  <a:pt x="0" y="0"/>
                </a:moveTo>
                <a:lnTo>
                  <a:pt x="231772" y="0"/>
                </a:lnTo>
                <a:lnTo>
                  <a:pt x="231772" y="231772"/>
                </a:lnTo>
                <a:lnTo>
                  <a:pt x="0" y="231772"/>
                </a:lnTo>
                <a:lnTo>
                  <a:pt x="0" y="0"/>
                </a:lnTo>
                <a:close/>
              </a:path>
            </a:pathLst>
          </a:custGeom>
          <a:blipFill>
            <a:blip r:embed="rId3">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3663353" y="9056789"/>
            <a:ext cx="231772" cy="231772"/>
          </a:xfrm>
          <a:custGeom>
            <a:avLst/>
            <a:gdLst/>
            <a:ahLst/>
            <a:cxnLst/>
            <a:rect r="r" b="b" t="t" l="l"/>
            <a:pathLst>
              <a:path h="231772" w="231772">
                <a:moveTo>
                  <a:pt x="0" y="0"/>
                </a:moveTo>
                <a:lnTo>
                  <a:pt x="231772" y="0"/>
                </a:lnTo>
                <a:lnTo>
                  <a:pt x="231772" y="231772"/>
                </a:lnTo>
                <a:lnTo>
                  <a:pt x="0" y="231772"/>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6097572" y="8001"/>
            <a:ext cx="5860380"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Algorithm Explanation</a:t>
            </a:r>
          </a:p>
        </p:txBody>
      </p:sp>
      <p:sp>
        <p:nvSpPr>
          <p:cNvPr name="TextBox 12" id="12"/>
          <p:cNvSpPr txBox="true"/>
          <p:nvPr/>
        </p:nvSpPr>
        <p:spPr>
          <a:xfrm rot="0">
            <a:off x="3422056" y="2421055"/>
            <a:ext cx="1557861" cy="830466"/>
          </a:xfrm>
          <a:prstGeom prst="rect">
            <a:avLst/>
          </a:prstGeom>
        </p:spPr>
        <p:txBody>
          <a:bodyPr anchor="t" rtlCol="false" tIns="0" lIns="0" bIns="0" rIns="0">
            <a:spAutoFit/>
          </a:bodyPr>
          <a:lstStyle/>
          <a:p>
            <a:pPr algn="l">
              <a:lnSpc>
                <a:spcPts val="3225"/>
              </a:lnSpc>
            </a:pPr>
            <a:r>
              <a:rPr lang="en-US" b="true" sz="2699" spc="24">
                <a:solidFill>
                  <a:srgbClr val="000000"/>
                </a:solidFill>
                <a:latin typeface="TT Rounds Condensed Bold"/>
                <a:ea typeface="TT Rounds Condensed Bold"/>
                <a:cs typeface="TT Rounds Condensed Bold"/>
                <a:sym typeface="TT Rounds Condensed Bold"/>
              </a:rPr>
              <a:t>Algorithm: Start: </a:t>
            </a:r>
          </a:p>
        </p:txBody>
      </p:sp>
      <p:sp>
        <p:nvSpPr>
          <p:cNvPr name="TextBox 13" id="13"/>
          <p:cNvSpPr txBox="true"/>
          <p:nvPr/>
        </p:nvSpPr>
        <p:spPr>
          <a:xfrm rot="0">
            <a:off x="4004872" y="3314881"/>
            <a:ext cx="6562125" cy="735216"/>
          </a:xfrm>
          <a:prstGeom prst="rect">
            <a:avLst/>
          </a:prstGeom>
        </p:spPr>
        <p:txBody>
          <a:bodyPr anchor="t" rtlCol="false" tIns="0" lIns="0" bIns="0" rIns="0">
            <a:spAutoFit/>
          </a:bodyPr>
          <a:lstStyle/>
          <a:p>
            <a:pPr algn="l">
              <a:lnSpc>
                <a:spcPts val="6532"/>
              </a:lnSpc>
            </a:pPr>
            <a:r>
              <a:rPr lang="en-US" sz="2699" spc="24">
                <a:solidFill>
                  <a:srgbClr val="000000"/>
                </a:solidFill>
                <a:latin typeface="TT Rounds Condensed"/>
                <a:ea typeface="TT Rounds Condensed"/>
                <a:cs typeface="TT Rounds Condensed"/>
                <a:sym typeface="TT Rounds Condensed"/>
              </a:rPr>
              <a:t>Assign an initial state to the animal (e.g., idle).</a:t>
            </a:r>
          </a:p>
        </p:txBody>
      </p:sp>
      <p:sp>
        <p:nvSpPr>
          <p:cNvPr name="TextBox 14" id="14"/>
          <p:cNvSpPr txBox="true"/>
          <p:nvPr/>
        </p:nvSpPr>
        <p:spPr>
          <a:xfrm rot="0">
            <a:off x="3422056" y="4154605"/>
            <a:ext cx="3288192" cy="735216"/>
          </a:xfrm>
          <a:prstGeom prst="rect">
            <a:avLst/>
          </a:prstGeom>
        </p:spPr>
        <p:txBody>
          <a:bodyPr anchor="t" rtlCol="false" tIns="0" lIns="0" bIns="0" rIns="0">
            <a:spAutoFit/>
          </a:bodyPr>
          <a:lstStyle/>
          <a:p>
            <a:pPr algn="l">
              <a:lnSpc>
                <a:spcPts val="6532"/>
              </a:lnSpc>
            </a:pPr>
            <a:r>
              <a:rPr lang="en-US" b="true" sz="2699" spc="24">
                <a:solidFill>
                  <a:srgbClr val="000000"/>
                </a:solidFill>
                <a:latin typeface="TT Rounds Condensed Bold"/>
                <a:ea typeface="TT Rounds Condensed Bold"/>
                <a:cs typeface="TT Rounds Condensed Bold"/>
                <a:sym typeface="TT Rounds Condensed Bold"/>
              </a:rPr>
              <a:t>Monitor Environment: </a:t>
            </a:r>
          </a:p>
        </p:txBody>
      </p:sp>
      <p:sp>
        <p:nvSpPr>
          <p:cNvPr name="TextBox 15" id="15"/>
          <p:cNvSpPr txBox="true"/>
          <p:nvPr/>
        </p:nvSpPr>
        <p:spPr>
          <a:xfrm rot="0">
            <a:off x="4004872" y="5038906"/>
            <a:ext cx="7928381"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Check for stimuli (e.g., food nearby or user interaction).</a:t>
            </a:r>
          </a:p>
        </p:txBody>
      </p:sp>
      <p:sp>
        <p:nvSpPr>
          <p:cNvPr name="TextBox 16" id="16"/>
          <p:cNvSpPr txBox="true"/>
          <p:nvPr/>
        </p:nvSpPr>
        <p:spPr>
          <a:xfrm rot="0">
            <a:off x="3422056" y="5364280"/>
            <a:ext cx="2459145"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State Transition:</a:t>
            </a:r>
          </a:p>
        </p:txBody>
      </p:sp>
      <p:sp>
        <p:nvSpPr>
          <p:cNvPr name="TextBox 17" id="17"/>
          <p:cNvSpPr txBox="true"/>
          <p:nvPr/>
        </p:nvSpPr>
        <p:spPr>
          <a:xfrm rot="0">
            <a:off x="4004872" y="6267631"/>
            <a:ext cx="7499766" cy="649491"/>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If food is nearby, transition to Eating state.</a:t>
            </a:r>
          </a:p>
          <a:p>
            <a:pPr algn="l">
              <a:lnSpc>
                <a:spcPts val="5101"/>
              </a:lnSpc>
            </a:pPr>
            <a:r>
              <a:rPr lang="en-US" sz="2699" spc="24">
                <a:solidFill>
                  <a:srgbClr val="000000"/>
                </a:solidFill>
                <a:latin typeface="TT Rounds Condensed"/>
                <a:ea typeface="TT Rounds Condensed"/>
                <a:cs typeface="TT Rounds Condensed"/>
                <a:sym typeface="TT Rounds Condensed"/>
              </a:rPr>
              <a:t>If user presses a button, transition to Walking state.</a:t>
            </a:r>
          </a:p>
        </p:txBody>
      </p:sp>
      <p:sp>
        <p:nvSpPr>
          <p:cNvPr name="TextBox 18" id="18"/>
          <p:cNvSpPr txBox="true"/>
          <p:nvPr/>
        </p:nvSpPr>
        <p:spPr>
          <a:xfrm rot="0">
            <a:off x="3422056" y="7002580"/>
            <a:ext cx="2979115"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Behavior Execution: </a:t>
            </a:r>
          </a:p>
        </p:txBody>
      </p:sp>
      <p:sp>
        <p:nvSpPr>
          <p:cNvPr name="TextBox 19" id="19"/>
          <p:cNvSpPr txBox="true"/>
          <p:nvPr/>
        </p:nvSpPr>
        <p:spPr>
          <a:xfrm rot="0">
            <a:off x="4004872" y="7905931"/>
            <a:ext cx="10532250"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Based on the current state, execute appropriate behavior (e.g., walk, eat).</a:t>
            </a:r>
          </a:p>
        </p:txBody>
      </p:sp>
      <p:sp>
        <p:nvSpPr>
          <p:cNvPr name="TextBox 20" id="20"/>
          <p:cNvSpPr txBox="true"/>
          <p:nvPr/>
        </p:nvSpPr>
        <p:spPr>
          <a:xfrm rot="0">
            <a:off x="3422056" y="8231305"/>
            <a:ext cx="1195111"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Repeat: </a:t>
            </a:r>
          </a:p>
        </p:txBody>
      </p:sp>
      <p:sp>
        <p:nvSpPr>
          <p:cNvPr name="TextBox 21" id="21"/>
          <p:cNvSpPr txBox="true"/>
          <p:nvPr/>
        </p:nvSpPr>
        <p:spPr>
          <a:xfrm rot="0">
            <a:off x="4004872" y="9134656"/>
            <a:ext cx="7525283"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Continuously monitor and update the animal’s state.</a:t>
            </a:r>
          </a:p>
        </p:txBody>
      </p:sp>
      <p:sp>
        <p:nvSpPr>
          <p:cNvPr name="TextBox 22" id="22"/>
          <p:cNvSpPr txBox="true"/>
          <p:nvPr/>
        </p:nvSpPr>
        <p:spPr>
          <a:xfrm rot="0">
            <a:off x="3063240" y="1624527"/>
            <a:ext cx="5203765" cy="539077"/>
          </a:xfrm>
          <a:prstGeom prst="rect">
            <a:avLst/>
          </a:prstGeom>
        </p:spPr>
        <p:txBody>
          <a:bodyPr anchor="t" rtlCol="false" tIns="0" lIns="0" bIns="0" rIns="0">
            <a:spAutoFit/>
          </a:bodyPr>
          <a:lstStyle/>
          <a:p>
            <a:pPr algn="l">
              <a:lnSpc>
                <a:spcPts val="4339"/>
              </a:lnSpc>
            </a:pPr>
            <a:r>
              <a:rPr lang="en-US" b="true" sz="3099" i="true" spc="27">
                <a:solidFill>
                  <a:srgbClr val="000000"/>
                </a:solidFill>
                <a:latin typeface="Glacial Indifference Bold Italics"/>
                <a:ea typeface="Glacial Indifference Bold Italics"/>
                <a:cs typeface="Glacial Indifference Bold Italics"/>
                <a:sym typeface="Glacial Indifference Bold Italics"/>
              </a:rPr>
              <a:t>Animal Behavior Simulation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grpSp>
        <p:nvGrpSpPr>
          <p:cNvPr name="Group 3" id="3"/>
          <p:cNvGrpSpPr>
            <a:grpSpLocks noChangeAspect="true"/>
          </p:cNvGrpSpPr>
          <p:nvPr/>
        </p:nvGrpSpPr>
        <p:grpSpPr>
          <a:xfrm rot="0">
            <a:off x="0" y="0"/>
            <a:ext cx="18288000" cy="932650"/>
            <a:chOff x="0" y="0"/>
            <a:chExt cx="18288000" cy="932650"/>
          </a:xfrm>
        </p:grpSpPr>
        <p:sp>
          <p:nvSpPr>
            <p:cNvPr name="Freeform 4" id="4"/>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sp>
        <p:nvSpPr>
          <p:cNvPr name="Freeform 5" id="5"/>
          <p:cNvSpPr/>
          <p:nvPr/>
        </p:nvSpPr>
        <p:spPr>
          <a:xfrm flipH="false" flipV="false" rot="0">
            <a:off x="2899962" y="3555159"/>
            <a:ext cx="231772" cy="231772"/>
          </a:xfrm>
          <a:custGeom>
            <a:avLst/>
            <a:gdLst/>
            <a:ahLst/>
            <a:cxnLst/>
            <a:rect r="r" b="b" t="t" l="l"/>
            <a:pathLst>
              <a:path h="231772" w="231772">
                <a:moveTo>
                  <a:pt x="0" y="0"/>
                </a:moveTo>
                <a:lnTo>
                  <a:pt x="231772" y="0"/>
                </a:lnTo>
                <a:lnTo>
                  <a:pt x="231772" y="231771"/>
                </a:lnTo>
                <a:lnTo>
                  <a:pt x="0" y="2317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2899962" y="4783884"/>
            <a:ext cx="231772" cy="231772"/>
          </a:xfrm>
          <a:custGeom>
            <a:avLst/>
            <a:gdLst/>
            <a:ahLst/>
            <a:cxnLst/>
            <a:rect r="r" b="b" t="t" l="l"/>
            <a:pathLst>
              <a:path h="231772" w="231772">
                <a:moveTo>
                  <a:pt x="0" y="0"/>
                </a:moveTo>
                <a:lnTo>
                  <a:pt x="231772" y="0"/>
                </a:lnTo>
                <a:lnTo>
                  <a:pt x="231772" y="231771"/>
                </a:lnTo>
                <a:lnTo>
                  <a:pt x="0" y="231771"/>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899962" y="6012609"/>
            <a:ext cx="231772" cy="231772"/>
          </a:xfrm>
          <a:custGeom>
            <a:avLst/>
            <a:gdLst/>
            <a:ahLst/>
            <a:cxnLst/>
            <a:rect r="r" b="b" t="t" l="l"/>
            <a:pathLst>
              <a:path h="231772" w="231772">
                <a:moveTo>
                  <a:pt x="0" y="0"/>
                </a:moveTo>
                <a:lnTo>
                  <a:pt x="231772" y="0"/>
                </a:lnTo>
                <a:lnTo>
                  <a:pt x="231772" y="231771"/>
                </a:lnTo>
                <a:lnTo>
                  <a:pt x="0" y="231771"/>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899962" y="6422184"/>
            <a:ext cx="231772" cy="231772"/>
          </a:xfrm>
          <a:custGeom>
            <a:avLst/>
            <a:gdLst/>
            <a:ahLst/>
            <a:cxnLst/>
            <a:rect r="r" b="b" t="t" l="l"/>
            <a:pathLst>
              <a:path h="231772" w="231772">
                <a:moveTo>
                  <a:pt x="0" y="0"/>
                </a:moveTo>
                <a:lnTo>
                  <a:pt x="231772" y="0"/>
                </a:lnTo>
                <a:lnTo>
                  <a:pt x="231772" y="231771"/>
                </a:lnTo>
                <a:lnTo>
                  <a:pt x="0" y="231771"/>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899962" y="7650909"/>
            <a:ext cx="231772" cy="231772"/>
          </a:xfrm>
          <a:custGeom>
            <a:avLst/>
            <a:gdLst/>
            <a:ahLst/>
            <a:cxnLst/>
            <a:rect r="r" b="b" t="t" l="l"/>
            <a:pathLst>
              <a:path h="231772" w="231772">
                <a:moveTo>
                  <a:pt x="0" y="0"/>
                </a:moveTo>
                <a:lnTo>
                  <a:pt x="231772" y="0"/>
                </a:lnTo>
                <a:lnTo>
                  <a:pt x="231772" y="231771"/>
                </a:lnTo>
                <a:lnTo>
                  <a:pt x="0" y="231771"/>
                </a:lnTo>
                <a:lnTo>
                  <a:pt x="0" y="0"/>
                </a:lnTo>
                <a:close/>
              </a:path>
            </a:pathLst>
          </a:custGeom>
          <a:blipFill>
            <a:blip r:embed="rId3">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2899962" y="8879634"/>
            <a:ext cx="231772" cy="231772"/>
          </a:xfrm>
          <a:custGeom>
            <a:avLst/>
            <a:gdLst/>
            <a:ahLst/>
            <a:cxnLst/>
            <a:rect r="r" b="b" t="t" l="l"/>
            <a:pathLst>
              <a:path h="231772" w="231772">
                <a:moveTo>
                  <a:pt x="0" y="0"/>
                </a:moveTo>
                <a:lnTo>
                  <a:pt x="231772" y="0"/>
                </a:lnTo>
                <a:lnTo>
                  <a:pt x="231772" y="231771"/>
                </a:lnTo>
                <a:lnTo>
                  <a:pt x="0" y="231771"/>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6097572" y="8001"/>
            <a:ext cx="5860380"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Algorithm Explanation</a:t>
            </a:r>
          </a:p>
        </p:txBody>
      </p:sp>
      <p:sp>
        <p:nvSpPr>
          <p:cNvPr name="TextBox 12" id="12"/>
          <p:cNvSpPr txBox="true"/>
          <p:nvPr/>
        </p:nvSpPr>
        <p:spPr>
          <a:xfrm rot="0">
            <a:off x="2658666" y="2243899"/>
            <a:ext cx="1557861" cy="830466"/>
          </a:xfrm>
          <a:prstGeom prst="rect">
            <a:avLst/>
          </a:prstGeom>
        </p:spPr>
        <p:txBody>
          <a:bodyPr anchor="t" rtlCol="false" tIns="0" lIns="0" bIns="0" rIns="0">
            <a:spAutoFit/>
          </a:bodyPr>
          <a:lstStyle/>
          <a:p>
            <a:pPr algn="l">
              <a:lnSpc>
                <a:spcPts val="3225"/>
              </a:lnSpc>
            </a:pPr>
            <a:r>
              <a:rPr lang="en-US" b="true" sz="2699" spc="24">
                <a:solidFill>
                  <a:srgbClr val="000000"/>
                </a:solidFill>
                <a:latin typeface="TT Rounds Condensed Bold"/>
                <a:ea typeface="TT Rounds Condensed Bold"/>
                <a:cs typeface="TT Rounds Condensed Bold"/>
                <a:sym typeface="TT Rounds Condensed Bold"/>
              </a:rPr>
              <a:t>Algorithm: Start: </a:t>
            </a:r>
          </a:p>
        </p:txBody>
      </p:sp>
      <p:sp>
        <p:nvSpPr>
          <p:cNvPr name="TextBox 13" id="13"/>
          <p:cNvSpPr txBox="true"/>
          <p:nvPr/>
        </p:nvSpPr>
        <p:spPr>
          <a:xfrm rot="0">
            <a:off x="3241481" y="3137735"/>
            <a:ext cx="8763943" cy="735216"/>
          </a:xfrm>
          <a:prstGeom prst="rect">
            <a:avLst/>
          </a:prstGeom>
        </p:spPr>
        <p:txBody>
          <a:bodyPr anchor="t" rtlCol="false" tIns="0" lIns="0" bIns="0" rIns="0">
            <a:spAutoFit/>
          </a:bodyPr>
          <a:lstStyle/>
          <a:p>
            <a:pPr algn="l">
              <a:lnSpc>
                <a:spcPts val="6532"/>
              </a:lnSpc>
            </a:pPr>
            <a:r>
              <a:rPr lang="en-US" sz="2699" spc="24">
                <a:solidFill>
                  <a:srgbClr val="000000"/>
                </a:solidFill>
                <a:latin typeface="TT Rounds Condensed"/>
                <a:ea typeface="TT Rounds Condensed"/>
                <a:cs typeface="TT Rounds Condensed"/>
                <a:sym typeface="TT Rounds Condensed"/>
              </a:rPr>
              <a:t>Wait for input from the Oculus controller (e.g., button press).</a:t>
            </a:r>
          </a:p>
        </p:txBody>
      </p:sp>
      <p:sp>
        <p:nvSpPr>
          <p:cNvPr name="TextBox 14" id="14"/>
          <p:cNvSpPr txBox="true"/>
          <p:nvPr/>
        </p:nvSpPr>
        <p:spPr>
          <a:xfrm rot="0">
            <a:off x="2658666" y="3977450"/>
            <a:ext cx="1934385" cy="735216"/>
          </a:xfrm>
          <a:prstGeom prst="rect">
            <a:avLst/>
          </a:prstGeom>
        </p:spPr>
        <p:txBody>
          <a:bodyPr anchor="t" rtlCol="false" tIns="0" lIns="0" bIns="0" rIns="0">
            <a:spAutoFit/>
          </a:bodyPr>
          <a:lstStyle/>
          <a:p>
            <a:pPr algn="l">
              <a:lnSpc>
                <a:spcPts val="6532"/>
              </a:lnSpc>
            </a:pPr>
            <a:r>
              <a:rPr lang="en-US" b="true" sz="2699" spc="24">
                <a:solidFill>
                  <a:srgbClr val="000000"/>
                </a:solidFill>
                <a:latin typeface="TT Rounds Condensed Bold"/>
                <a:ea typeface="TT Rounds Condensed Bold"/>
                <a:cs typeface="TT Rounds Condensed Bold"/>
                <a:sym typeface="TT Rounds Condensed Bold"/>
              </a:rPr>
              <a:t>Detect Input:</a:t>
            </a:r>
          </a:p>
        </p:txBody>
      </p:sp>
      <p:sp>
        <p:nvSpPr>
          <p:cNvPr name="TextBox 15" id="15"/>
          <p:cNvSpPr txBox="true"/>
          <p:nvPr/>
        </p:nvSpPr>
        <p:spPr>
          <a:xfrm rot="0">
            <a:off x="3241481" y="4861760"/>
            <a:ext cx="10379240"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 If the user presses a specific button (e.g., select), trigger an interaction.</a:t>
            </a:r>
          </a:p>
        </p:txBody>
      </p:sp>
      <p:sp>
        <p:nvSpPr>
          <p:cNvPr name="TextBox 16" id="16"/>
          <p:cNvSpPr txBox="true"/>
          <p:nvPr/>
        </p:nvSpPr>
        <p:spPr>
          <a:xfrm rot="0">
            <a:off x="2658666" y="5187125"/>
            <a:ext cx="1731959"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Interaction:</a:t>
            </a:r>
          </a:p>
        </p:txBody>
      </p:sp>
      <p:sp>
        <p:nvSpPr>
          <p:cNvPr name="TextBox 17" id="17"/>
          <p:cNvSpPr txBox="true"/>
          <p:nvPr/>
        </p:nvSpPr>
        <p:spPr>
          <a:xfrm rot="0">
            <a:off x="3241481" y="6090485"/>
            <a:ext cx="12619053" cy="649491"/>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If interacting with an animal, call animal behavior methods (e.g., change state to eating).</a:t>
            </a:r>
          </a:p>
          <a:p>
            <a:pPr algn="l">
              <a:lnSpc>
                <a:spcPts val="5101"/>
              </a:lnSpc>
            </a:pPr>
            <a:r>
              <a:rPr lang="en-US" sz="2699" spc="24">
                <a:solidFill>
                  <a:srgbClr val="000000"/>
                </a:solidFill>
                <a:latin typeface="TT Rounds Condensed"/>
                <a:ea typeface="TT Rounds Condensed"/>
                <a:cs typeface="TT Rounds Condensed"/>
                <a:sym typeface="TT Rounds Condensed"/>
              </a:rPr>
              <a:t>If interacting with an object, modify or animate the object.</a:t>
            </a:r>
          </a:p>
        </p:txBody>
      </p:sp>
      <p:sp>
        <p:nvSpPr>
          <p:cNvPr name="TextBox 18" id="18"/>
          <p:cNvSpPr txBox="true"/>
          <p:nvPr/>
        </p:nvSpPr>
        <p:spPr>
          <a:xfrm rot="0">
            <a:off x="2658666" y="6825425"/>
            <a:ext cx="2742000"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Provide Feedback: </a:t>
            </a:r>
          </a:p>
        </p:txBody>
      </p:sp>
      <p:sp>
        <p:nvSpPr>
          <p:cNvPr name="TextBox 19" id="19"/>
          <p:cNvSpPr txBox="true"/>
          <p:nvPr/>
        </p:nvSpPr>
        <p:spPr>
          <a:xfrm rot="0">
            <a:off x="3241481" y="7728785"/>
            <a:ext cx="8287779"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Provide haptic feedback or visual cue (e.g., animal reacts).</a:t>
            </a:r>
          </a:p>
        </p:txBody>
      </p:sp>
      <p:sp>
        <p:nvSpPr>
          <p:cNvPr name="TextBox 20" id="20"/>
          <p:cNvSpPr txBox="true"/>
          <p:nvPr/>
        </p:nvSpPr>
        <p:spPr>
          <a:xfrm rot="0">
            <a:off x="2658666" y="8054150"/>
            <a:ext cx="1195111"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Repeat: </a:t>
            </a:r>
          </a:p>
        </p:txBody>
      </p:sp>
      <p:sp>
        <p:nvSpPr>
          <p:cNvPr name="TextBox 21" id="21"/>
          <p:cNvSpPr txBox="true"/>
          <p:nvPr/>
        </p:nvSpPr>
        <p:spPr>
          <a:xfrm rot="0">
            <a:off x="3241481" y="8957510"/>
            <a:ext cx="7765466"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Continuously check for input and trigger interactions.</a:t>
            </a:r>
          </a:p>
        </p:txBody>
      </p:sp>
      <p:sp>
        <p:nvSpPr>
          <p:cNvPr name="TextBox 22" id="22"/>
          <p:cNvSpPr txBox="true"/>
          <p:nvPr/>
        </p:nvSpPr>
        <p:spPr>
          <a:xfrm rot="0">
            <a:off x="2481167" y="1250280"/>
            <a:ext cx="6788982" cy="539077"/>
          </a:xfrm>
          <a:prstGeom prst="rect">
            <a:avLst/>
          </a:prstGeom>
        </p:spPr>
        <p:txBody>
          <a:bodyPr anchor="t" rtlCol="false" tIns="0" lIns="0" bIns="0" rIns="0">
            <a:spAutoFit/>
          </a:bodyPr>
          <a:lstStyle/>
          <a:p>
            <a:pPr algn="l">
              <a:lnSpc>
                <a:spcPts val="4339"/>
              </a:lnSpc>
            </a:pPr>
            <a:r>
              <a:rPr lang="en-US" b="true" sz="3099" i="true" spc="27">
                <a:solidFill>
                  <a:srgbClr val="000000"/>
                </a:solidFill>
                <a:latin typeface="Glacial Indifference Bold Italics"/>
                <a:ea typeface="Glacial Indifference Bold Italics"/>
                <a:cs typeface="Glacial Indifference Bold Italics"/>
                <a:sym typeface="Glacial Indifference Bold Italics"/>
              </a:rPr>
              <a:t>Interaction with Virtual Environment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grpSp>
        <p:nvGrpSpPr>
          <p:cNvPr name="Group 3" id="3"/>
          <p:cNvGrpSpPr>
            <a:grpSpLocks noChangeAspect="true"/>
          </p:cNvGrpSpPr>
          <p:nvPr/>
        </p:nvGrpSpPr>
        <p:grpSpPr>
          <a:xfrm rot="0">
            <a:off x="0" y="0"/>
            <a:ext cx="18288000" cy="932650"/>
            <a:chOff x="0" y="0"/>
            <a:chExt cx="18288000" cy="932650"/>
          </a:xfrm>
        </p:grpSpPr>
        <p:sp>
          <p:nvSpPr>
            <p:cNvPr name="Freeform 4" id="4"/>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sp>
        <p:nvSpPr>
          <p:cNvPr name="Freeform 5" id="5"/>
          <p:cNvSpPr/>
          <p:nvPr/>
        </p:nvSpPr>
        <p:spPr>
          <a:xfrm flipH="false" flipV="false" rot="0">
            <a:off x="3601822" y="3363116"/>
            <a:ext cx="231772" cy="231772"/>
          </a:xfrm>
          <a:custGeom>
            <a:avLst/>
            <a:gdLst/>
            <a:ahLst/>
            <a:cxnLst/>
            <a:rect r="r" b="b" t="t" l="l"/>
            <a:pathLst>
              <a:path h="231772" w="231772">
                <a:moveTo>
                  <a:pt x="0" y="0"/>
                </a:moveTo>
                <a:lnTo>
                  <a:pt x="231771" y="0"/>
                </a:lnTo>
                <a:lnTo>
                  <a:pt x="231771" y="231771"/>
                </a:lnTo>
                <a:lnTo>
                  <a:pt x="0" y="2317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601822" y="4591841"/>
            <a:ext cx="231772" cy="231772"/>
          </a:xfrm>
          <a:custGeom>
            <a:avLst/>
            <a:gdLst/>
            <a:ahLst/>
            <a:cxnLst/>
            <a:rect r="r" b="b" t="t" l="l"/>
            <a:pathLst>
              <a:path h="231772" w="231772">
                <a:moveTo>
                  <a:pt x="0" y="0"/>
                </a:moveTo>
                <a:lnTo>
                  <a:pt x="231771" y="0"/>
                </a:lnTo>
                <a:lnTo>
                  <a:pt x="231771" y="231771"/>
                </a:lnTo>
                <a:lnTo>
                  <a:pt x="0" y="231771"/>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601822" y="5820566"/>
            <a:ext cx="231772" cy="231772"/>
          </a:xfrm>
          <a:custGeom>
            <a:avLst/>
            <a:gdLst/>
            <a:ahLst/>
            <a:cxnLst/>
            <a:rect r="r" b="b" t="t" l="l"/>
            <a:pathLst>
              <a:path h="231772" w="231772">
                <a:moveTo>
                  <a:pt x="0" y="0"/>
                </a:moveTo>
                <a:lnTo>
                  <a:pt x="231771" y="0"/>
                </a:lnTo>
                <a:lnTo>
                  <a:pt x="231771" y="231771"/>
                </a:lnTo>
                <a:lnTo>
                  <a:pt x="0" y="231771"/>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601822" y="7049291"/>
            <a:ext cx="231772" cy="231772"/>
          </a:xfrm>
          <a:custGeom>
            <a:avLst/>
            <a:gdLst/>
            <a:ahLst/>
            <a:cxnLst/>
            <a:rect r="r" b="b" t="t" l="l"/>
            <a:pathLst>
              <a:path h="231772" w="231772">
                <a:moveTo>
                  <a:pt x="0" y="0"/>
                </a:moveTo>
                <a:lnTo>
                  <a:pt x="231771" y="0"/>
                </a:lnTo>
                <a:lnTo>
                  <a:pt x="231771" y="231771"/>
                </a:lnTo>
                <a:lnTo>
                  <a:pt x="0" y="231771"/>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01822" y="8278016"/>
            <a:ext cx="231772" cy="231772"/>
          </a:xfrm>
          <a:custGeom>
            <a:avLst/>
            <a:gdLst/>
            <a:ahLst/>
            <a:cxnLst/>
            <a:rect r="r" b="b" t="t" l="l"/>
            <a:pathLst>
              <a:path h="231772" w="231772">
                <a:moveTo>
                  <a:pt x="0" y="0"/>
                </a:moveTo>
                <a:lnTo>
                  <a:pt x="231771" y="0"/>
                </a:lnTo>
                <a:lnTo>
                  <a:pt x="231771" y="231771"/>
                </a:lnTo>
                <a:lnTo>
                  <a:pt x="0" y="231771"/>
                </a:lnTo>
                <a:lnTo>
                  <a:pt x="0" y="0"/>
                </a:lnTo>
                <a:close/>
              </a:path>
            </a:pathLst>
          </a:custGeom>
          <a:blipFill>
            <a:blip r:embed="rId3">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3601822" y="9506741"/>
            <a:ext cx="231772" cy="231772"/>
          </a:xfrm>
          <a:custGeom>
            <a:avLst/>
            <a:gdLst/>
            <a:ahLst/>
            <a:cxnLst/>
            <a:rect r="r" b="b" t="t" l="l"/>
            <a:pathLst>
              <a:path h="231772" w="231772">
                <a:moveTo>
                  <a:pt x="0" y="0"/>
                </a:moveTo>
                <a:lnTo>
                  <a:pt x="231771" y="0"/>
                </a:lnTo>
                <a:lnTo>
                  <a:pt x="231771" y="231771"/>
                </a:lnTo>
                <a:lnTo>
                  <a:pt x="0" y="231771"/>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6097572" y="8001"/>
            <a:ext cx="5860380"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Algorithm Explanation</a:t>
            </a:r>
          </a:p>
        </p:txBody>
      </p:sp>
      <p:sp>
        <p:nvSpPr>
          <p:cNvPr name="TextBox 12" id="12"/>
          <p:cNvSpPr txBox="true"/>
          <p:nvPr/>
        </p:nvSpPr>
        <p:spPr>
          <a:xfrm rot="0">
            <a:off x="3360525" y="2051856"/>
            <a:ext cx="1557861" cy="830466"/>
          </a:xfrm>
          <a:prstGeom prst="rect">
            <a:avLst/>
          </a:prstGeom>
        </p:spPr>
        <p:txBody>
          <a:bodyPr anchor="t" rtlCol="false" tIns="0" lIns="0" bIns="0" rIns="0">
            <a:spAutoFit/>
          </a:bodyPr>
          <a:lstStyle/>
          <a:p>
            <a:pPr algn="l">
              <a:lnSpc>
                <a:spcPts val="3225"/>
              </a:lnSpc>
            </a:pPr>
            <a:r>
              <a:rPr lang="en-US" b="true" sz="2699" spc="24">
                <a:solidFill>
                  <a:srgbClr val="000000"/>
                </a:solidFill>
                <a:latin typeface="TT Rounds Condensed Bold"/>
                <a:ea typeface="TT Rounds Condensed Bold"/>
                <a:cs typeface="TT Rounds Condensed Bold"/>
                <a:sym typeface="TT Rounds Condensed Bold"/>
              </a:rPr>
              <a:t>Algorithm: Start: </a:t>
            </a:r>
          </a:p>
        </p:txBody>
      </p:sp>
      <p:sp>
        <p:nvSpPr>
          <p:cNvPr name="TextBox 13" id="13"/>
          <p:cNvSpPr txBox="true"/>
          <p:nvPr/>
        </p:nvSpPr>
        <p:spPr>
          <a:xfrm rot="0">
            <a:off x="3943331" y="2945682"/>
            <a:ext cx="5552456" cy="735216"/>
          </a:xfrm>
          <a:prstGeom prst="rect">
            <a:avLst/>
          </a:prstGeom>
        </p:spPr>
        <p:txBody>
          <a:bodyPr anchor="t" rtlCol="false" tIns="0" lIns="0" bIns="0" rIns="0">
            <a:spAutoFit/>
          </a:bodyPr>
          <a:lstStyle/>
          <a:p>
            <a:pPr algn="l">
              <a:lnSpc>
                <a:spcPts val="6532"/>
              </a:lnSpc>
            </a:pPr>
            <a:r>
              <a:rPr lang="en-US" sz="2699" spc="24">
                <a:solidFill>
                  <a:srgbClr val="000000"/>
                </a:solidFill>
                <a:latin typeface="TT Rounds Condensed"/>
                <a:ea typeface="TT Rounds Condensed"/>
                <a:cs typeface="TT Rounds Condensed"/>
                <a:sym typeface="TT Rounds Condensed"/>
              </a:rPr>
              <a:t>Check asset quality (models, textures).</a:t>
            </a:r>
          </a:p>
        </p:txBody>
      </p:sp>
      <p:sp>
        <p:nvSpPr>
          <p:cNvPr name="TextBox 14" id="14"/>
          <p:cNvSpPr txBox="true"/>
          <p:nvPr/>
        </p:nvSpPr>
        <p:spPr>
          <a:xfrm rot="0">
            <a:off x="3360525" y="3785406"/>
            <a:ext cx="2511933" cy="735216"/>
          </a:xfrm>
          <a:prstGeom prst="rect">
            <a:avLst/>
          </a:prstGeom>
        </p:spPr>
        <p:txBody>
          <a:bodyPr anchor="t" rtlCol="false" tIns="0" lIns="0" bIns="0" rIns="0">
            <a:spAutoFit/>
          </a:bodyPr>
          <a:lstStyle/>
          <a:p>
            <a:pPr algn="l">
              <a:lnSpc>
                <a:spcPts val="6532"/>
              </a:lnSpc>
            </a:pPr>
            <a:r>
              <a:rPr lang="en-US" b="true" sz="2699" spc="24">
                <a:solidFill>
                  <a:srgbClr val="000000"/>
                </a:solidFill>
                <a:latin typeface="TT Rounds Condensed Bold"/>
                <a:ea typeface="TT Rounds Condensed Bold"/>
                <a:cs typeface="TT Rounds Condensed Bold"/>
                <a:sym typeface="TT Rounds Condensed Bold"/>
              </a:rPr>
              <a:t>Optimize Models:</a:t>
            </a:r>
          </a:p>
        </p:txBody>
      </p:sp>
      <p:sp>
        <p:nvSpPr>
          <p:cNvPr name="TextBox 15" id="15"/>
          <p:cNvSpPr txBox="true"/>
          <p:nvPr/>
        </p:nvSpPr>
        <p:spPr>
          <a:xfrm rot="0">
            <a:off x="3943331" y="4669707"/>
            <a:ext cx="5413772"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 Reduce polygon count for 3D models.</a:t>
            </a:r>
          </a:p>
        </p:txBody>
      </p:sp>
      <p:sp>
        <p:nvSpPr>
          <p:cNvPr name="TextBox 16" id="16"/>
          <p:cNvSpPr txBox="true"/>
          <p:nvPr/>
        </p:nvSpPr>
        <p:spPr>
          <a:xfrm rot="0">
            <a:off x="3360525" y="4995081"/>
            <a:ext cx="2809856"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Optimize Textures: </a:t>
            </a:r>
          </a:p>
        </p:txBody>
      </p:sp>
      <p:sp>
        <p:nvSpPr>
          <p:cNvPr name="TextBox 17" id="17"/>
          <p:cNvSpPr txBox="true"/>
          <p:nvPr/>
        </p:nvSpPr>
        <p:spPr>
          <a:xfrm rot="0">
            <a:off x="3943331" y="5898432"/>
            <a:ext cx="5836691"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Reduce texture resolution for efficiency.</a:t>
            </a:r>
          </a:p>
        </p:txBody>
      </p:sp>
      <p:sp>
        <p:nvSpPr>
          <p:cNvPr name="TextBox 18" id="18"/>
          <p:cNvSpPr txBox="true"/>
          <p:nvPr/>
        </p:nvSpPr>
        <p:spPr>
          <a:xfrm rot="0">
            <a:off x="3360525" y="6223806"/>
            <a:ext cx="2726360"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Optimize Shaders: </a:t>
            </a:r>
          </a:p>
        </p:txBody>
      </p:sp>
      <p:sp>
        <p:nvSpPr>
          <p:cNvPr name="TextBox 19" id="19"/>
          <p:cNvSpPr txBox="true"/>
          <p:nvPr/>
        </p:nvSpPr>
        <p:spPr>
          <a:xfrm rot="0">
            <a:off x="3943331" y="7127157"/>
            <a:ext cx="8191643"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Use efficient shaders to improve rendering performance.</a:t>
            </a:r>
          </a:p>
        </p:txBody>
      </p:sp>
      <p:sp>
        <p:nvSpPr>
          <p:cNvPr name="TextBox 20" id="20"/>
          <p:cNvSpPr txBox="true"/>
          <p:nvPr/>
        </p:nvSpPr>
        <p:spPr>
          <a:xfrm rot="0">
            <a:off x="3360525" y="7452531"/>
            <a:ext cx="2686383"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Test Performance:</a:t>
            </a:r>
          </a:p>
        </p:txBody>
      </p:sp>
      <p:sp>
        <p:nvSpPr>
          <p:cNvPr name="TextBox 21" id="21"/>
          <p:cNvSpPr txBox="true"/>
          <p:nvPr/>
        </p:nvSpPr>
        <p:spPr>
          <a:xfrm rot="0">
            <a:off x="3943331" y="8355882"/>
            <a:ext cx="6872221"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Ensure smooth performance on Oculus Quest 2.</a:t>
            </a:r>
          </a:p>
        </p:txBody>
      </p:sp>
      <p:sp>
        <p:nvSpPr>
          <p:cNvPr name="TextBox 22" id="22"/>
          <p:cNvSpPr txBox="true"/>
          <p:nvPr/>
        </p:nvSpPr>
        <p:spPr>
          <a:xfrm rot="0">
            <a:off x="3360525" y="8681256"/>
            <a:ext cx="1121902" cy="754266"/>
          </a:xfrm>
          <a:prstGeom prst="rect">
            <a:avLst/>
          </a:prstGeom>
        </p:spPr>
        <p:txBody>
          <a:bodyPr anchor="t" rtlCol="false" tIns="0" lIns="0" bIns="0" rIns="0">
            <a:spAutoFit/>
          </a:bodyPr>
          <a:lstStyle/>
          <a:p>
            <a:pPr algn="l">
              <a:lnSpc>
                <a:spcPts val="6748"/>
              </a:lnSpc>
            </a:pPr>
            <a:r>
              <a:rPr lang="en-US" b="true" sz="2699" spc="24">
                <a:solidFill>
                  <a:srgbClr val="000000"/>
                </a:solidFill>
                <a:latin typeface="TT Rounds Condensed Bold"/>
                <a:ea typeface="TT Rounds Condensed Bold"/>
                <a:cs typeface="TT Rounds Condensed Bold"/>
                <a:sym typeface="TT Rounds Condensed Bold"/>
              </a:rPr>
              <a:t>Repeat:</a:t>
            </a:r>
          </a:p>
        </p:txBody>
      </p:sp>
      <p:sp>
        <p:nvSpPr>
          <p:cNvPr name="TextBox 23" id="23"/>
          <p:cNvSpPr txBox="true"/>
          <p:nvPr/>
        </p:nvSpPr>
        <p:spPr>
          <a:xfrm rot="0">
            <a:off x="3943331" y="9584607"/>
            <a:ext cx="6847161" cy="239916"/>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 Continue monitoring performance in real-time.</a:t>
            </a:r>
          </a:p>
        </p:txBody>
      </p:sp>
      <p:sp>
        <p:nvSpPr>
          <p:cNvPr name="TextBox 24" id="24"/>
          <p:cNvSpPr txBox="true"/>
          <p:nvPr/>
        </p:nvSpPr>
        <p:spPr>
          <a:xfrm rot="0">
            <a:off x="3065231" y="1255271"/>
            <a:ext cx="7456722" cy="539077"/>
          </a:xfrm>
          <a:prstGeom prst="rect">
            <a:avLst/>
          </a:prstGeom>
        </p:spPr>
        <p:txBody>
          <a:bodyPr anchor="t" rtlCol="false" tIns="0" lIns="0" bIns="0" rIns="0">
            <a:spAutoFit/>
          </a:bodyPr>
          <a:lstStyle/>
          <a:p>
            <a:pPr algn="l">
              <a:lnSpc>
                <a:spcPts val="4339"/>
              </a:lnSpc>
            </a:pPr>
            <a:r>
              <a:rPr lang="en-US" b="true" sz="3099" i="true" spc="27">
                <a:solidFill>
                  <a:srgbClr val="000000"/>
                </a:solidFill>
                <a:latin typeface="Glacial Indifference Bold Italics"/>
                <a:ea typeface="Glacial Indifference Bold Italics"/>
                <a:cs typeface="Glacial Indifference Bold Italics"/>
                <a:sym typeface="Glacial Indifference Bold Italics"/>
              </a:rPr>
              <a:t>Optimizing Performance and Rendering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grpSp>
        <p:nvGrpSpPr>
          <p:cNvPr name="Group 3" id="3"/>
          <p:cNvGrpSpPr>
            <a:grpSpLocks noChangeAspect="true"/>
          </p:cNvGrpSpPr>
          <p:nvPr/>
        </p:nvGrpSpPr>
        <p:grpSpPr>
          <a:xfrm rot="0">
            <a:off x="0" y="0"/>
            <a:ext cx="18288000" cy="932650"/>
            <a:chOff x="0" y="0"/>
            <a:chExt cx="18288000" cy="932650"/>
          </a:xfrm>
        </p:grpSpPr>
        <p:sp>
          <p:nvSpPr>
            <p:cNvPr name="Freeform 4" id="4"/>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grpSp>
        <p:nvGrpSpPr>
          <p:cNvPr name="Group 5" id="5"/>
          <p:cNvGrpSpPr>
            <a:grpSpLocks noChangeAspect="true"/>
          </p:cNvGrpSpPr>
          <p:nvPr/>
        </p:nvGrpSpPr>
        <p:grpSpPr>
          <a:xfrm rot="0">
            <a:off x="3574928" y="8568495"/>
            <a:ext cx="104775" cy="104775"/>
            <a:chOff x="0" y="0"/>
            <a:chExt cx="104775" cy="104775"/>
          </a:xfrm>
        </p:grpSpPr>
        <p:sp>
          <p:nvSpPr>
            <p:cNvPr name="Freeform 6" id="6"/>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grpSp>
        <p:nvGrpSpPr>
          <p:cNvPr name="Group 7" id="7"/>
          <p:cNvGrpSpPr>
            <a:grpSpLocks noChangeAspect="true"/>
          </p:cNvGrpSpPr>
          <p:nvPr/>
        </p:nvGrpSpPr>
        <p:grpSpPr>
          <a:xfrm rot="0">
            <a:off x="1333500" y="8954091"/>
            <a:ext cx="104775" cy="104775"/>
            <a:chOff x="0" y="0"/>
            <a:chExt cx="104775" cy="104775"/>
          </a:xfrm>
        </p:grpSpPr>
        <p:sp>
          <p:nvSpPr>
            <p:cNvPr name="Freeform 8" id="8"/>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grpSp>
        <p:nvGrpSpPr>
          <p:cNvPr name="Group 9" id="9"/>
          <p:cNvGrpSpPr>
            <a:grpSpLocks noChangeAspect="true"/>
          </p:cNvGrpSpPr>
          <p:nvPr/>
        </p:nvGrpSpPr>
        <p:grpSpPr>
          <a:xfrm rot="0">
            <a:off x="3576471" y="2243142"/>
            <a:ext cx="104775" cy="104775"/>
            <a:chOff x="0" y="0"/>
            <a:chExt cx="104775" cy="104775"/>
          </a:xfrm>
        </p:grpSpPr>
        <p:sp>
          <p:nvSpPr>
            <p:cNvPr name="Freeform 10" id="10"/>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grpSp>
        <p:nvGrpSpPr>
          <p:cNvPr name="Group 11" id="11"/>
          <p:cNvGrpSpPr>
            <a:grpSpLocks noChangeAspect="true"/>
          </p:cNvGrpSpPr>
          <p:nvPr/>
        </p:nvGrpSpPr>
        <p:grpSpPr>
          <a:xfrm rot="0">
            <a:off x="3576471" y="2652717"/>
            <a:ext cx="104775" cy="104775"/>
            <a:chOff x="0" y="0"/>
            <a:chExt cx="104775" cy="104775"/>
          </a:xfrm>
        </p:grpSpPr>
        <p:sp>
          <p:nvSpPr>
            <p:cNvPr name="Freeform 12" id="12"/>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grpSp>
        <p:nvGrpSpPr>
          <p:cNvPr name="Group 13" id="13"/>
          <p:cNvGrpSpPr>
            <a:grpSpLocks noChangeAspect="true"/>
          </p:cNvGrpSpPr>
          <p:nvPr/>
        </p:nvGrpSpPr>
        <p:grpSpPr>
          <a:xfrm rot="0">
            <a:off x="3576471" y="4351596"/>
            <a:ext cx="104775" cy="104775"/>
            <a:chOff x="0" y="0"/>
            <a:chExt cx="104775" cy="104775"/>
          </a:xfrm>
        </p:grpSpPr>
        <p:sp>
          <p:nvSpPr>
            <p:cNvPr name="Freeform 14" id="14"/>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grpSp>
        <p:nvGrpSpPr>
          <p:cNvPr name="Group 15" id="15"/>
          <p:cNvGrpSpPr>
            <a:grpSpLocks noChangeAspect="true"/>
          </p:cNvGrpSpPr>
          <p:nvPr/>
        </p:nvGrpSpPr>
        <p:grpSpPr>
          <a:xfrm rot="0">
            <a:off x="3576471" y="4761171"/>
            <a:ext cx="104775" cy="104775"/>
            <a:chOff x="0" y="0"/>
            <a:chExt cx="104775" cy="104775"/>
          </a:xfrm>
        </p:grpSpPr>
        <p:sp>
          <p:nvSpPr>
            <p:cNvPr name="Freeform 16" id="16"/>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grpSp>
        <p:nvGrpSpPr>
          <p:cNvPr name="Group 17" id="17"/>
          <p:cNvGrpSpPr>
            <a:grpSpLocks noChangeAspect="true"/>
          </p:cNvGrpSpPr>
          <p:nvPr/>
        </p:nvGrpSpPr>
        <p:grpSpPr>
          <a:xfrm rot="0">
            <a:off x="3576471" y="6460041"/>
            <a:ext cx="104775" cy="104775"/>
            <a:chOff x="0" y="0"/>
            <a:chExt cx="104775" cy="104775"/>
          </a:xfrm>
        </p:grpSpPr>
        <p:sp>
          <p:nvSpPr>
            <p:cNvPr name="Freeform 18" id="18"/>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grpSp>
        <p:nvGrpSpPr>
          <p:cNvPr name="Group 19" id="19"/>
          <p:cNvGrpSpPr>
            <a:grpSpLocks noChangeAspect="true"/>
          </p:cNvGrpSpPr>
          <p:nvPr/>
        </p:nvGrpSpPr>
        <p:grpSpPr>
          <a:xfrm rot="0">
            <a:off x="3576471" y="6869616"/>
            <a:ext cx="104775" cy="104775"/>
            <a:chOff x="0" y="0"/>
            <a:chExt cx="104775" cy="104775"/>
          </a:xfrm>
        </p:grpSpPr>
        <p:sp>
          <p:nvSpPr>
            <p:cNvPr name="Freeform 20" id="20"/>
            <p:cNvSpPr/>
            <p:nvPr/>
          </p:nvSpPr>
          <p:spPr>
            <a:xfrm flipH="false" flipV="false" rot="0">
              <a:off x="0" y="127"/>
              <a:ext cx="104775" cy="104394"/>
            </a:xfrm>
            <a:custGeom>
              <a:avLst/>
              <a:gdLst/>
              <a:ahLst/>
              <a:cxnLst/>
              <a:rect r="r" b="b" t="t" l="l"/>
              <a:pathLst>
                <a:path h="104394" w="104775">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C00000"/>
            </a:solidFill>
          </p:spPr>
        </p:sp>
      </p:grpSp>
      <p:sp>
        <p:nvSpPr>
          <p:cNvPr name="TextBox 21" id="21"/>
          <p:cNvSpPr txBox="true"/>
          <p:nvPr/>
        </p:nvSpPr>
        <p:spPr>
          <a:xfrm rot="0">
            <a:off x="6702200" y="8049"/>
            <a:ext cx="4975574"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IMPLEMENTATION</a:t>
            </a:r>
          </a:p>
        </p:txBody>
      </p:sp>
      <p:sp>
        <p:nvSpPr>
          <p:cNvPr name="TextBox 22" id="22"/>
          <p:cNvSpPr txBox="true"/>
          <p:nvPr/>
        </p:nvSpPr>
        <p:spPr>
          <a:xfrm rot="0">
            <a:off x="2778395" y="1324508"/>
            <a:ext cx="3354134" cy="620916"/>
          </a:xfrm>
          <a:prstGeom prst="rect">
            <a:avLst/>
          </a:prstGeom>
        </p:spPr>
        <p:txBody>
          <a:bodyPr anchor="t" rtlCol="false" tIns="0" lIns="0" bIns="0" rIns="0">
            <a:spAutoFit/>
          </a:bodyPr>
          <a:lstStyle/>
          <a:p>
            <a:pPr algn="l">
              <a:lnSpc>
                <a:spcPts val="5312"/>
              </a:lnSpc>
            </a:pPr>
            <a:r>
              <a:rPr lang="en-US" b="true" sz="2699" spc="24">
                <a:solidFill>
                  <a:srgbClr val="000000"/>
                </a:solidFill>
                <a:latin typeface="TT Rounds Condensed Bold"/>
                <a:ea typeface="TT Rounds Condensed Bold"/>
                <a:cs typeface="TT Rounds Condensed Bold"/>
                <a:sym typeface="TT Rounds Condensed Bold"/>
              </a:rPr>
              <a:t>XR Interaction System:</a:t>
            </a:r>
          </a:p>
        </p:txBody>
      </p:sp>
      <p:sp>
        <p:nvSpPr>
          <p:cNvPr name="TextBox 23" id="23"/>
          <p:cNvSpPr txBox="true"/>
          <p:nvPr/>
        </p:nvSpPr>
        <p:spPr>
          <a:xfrm rot="0">
            <a:off x="3926272" y="1999078"/>
            <a:ext cx="8320288" cy="1026570"/>
          </a:xfrm>
          <a:prstGeom prst="rect">
            <a:avLst/>
          </a:prstGeom>
        </p:spPr>
        <p:txBody>
          <a:bodyPr anchor="t" rtlCol="false" tIns="0" lIns="0" bIns="0" rIns="0">
            <a:spAutoFit/>
          </a:bodyPr>
          <a:lstStyle/>
          <a:p>
            <a:pPr algn="ctr">
              <a:lnSpc>
                <a:spcPts val="5312"/>
              </a:lnSpc>
            </a:pPr>
            <a:r>
              <a:rPr lang="en-US" sz="2699" spc="24">
                <a:solidFill>
                  <a:srgbClr val="000000"/>
                </a:solidFill>
                <a:latin typeface="TT Rounds Condensed"/>
                <a:ea typeface="TT Rounds Condensed"/>
                <a:cs typeface="TT Rounds Condensed"/>
                <a:sym typeface="TT Rounds Condensed"/>
              </a:rPr>
              <a:t>Uses XR Toolkit Supports to handle VR/AR interactions. </a:t>
            </a:r>
          </a:p>
          <a:p>
            <a:pPr algn="ctr">
              <a:lnSpc>
                <a:spcPts val="1349"/>
              </a:lnSpc>
            </a:pPr>
            <a:r>
              <a:rPr lang="en-US" sz="2699" spc="24">
                <a:solidFill>
                  <a:srgbClr val="000000"/>
                </a:solidFill>
                <a:latin typeface="TT Rounds Condensed"/>
                <a:ea typeface="TT Rounds Condensed"/>
                <a:cs typeface="TT Rounds Condensed"/>
                <a:sym typeface="TT Rounds Condensed"/>
              </a:rPr>
              <a:t>hand-tracking, controller input, and gesture recognition.</a:t>
            </a:r>
          </a:p>
        </p:txBody>
      </p:sp>
      <p:sp>
        <p:nvSpPr>
          <p:cNvPr name="TextBox 24" id="24"/>
          <p:cNvSpPr txBox="true"/>
          <p:nvPr/>
        </p:nvSpPr>
        <p:spPr>
          <a:xfrm rot="0">
            <a:off x="2778395" y="3134268"/>
            <a:ext cx="4951971" cy="744741"/>
          </a:xfrm>
          <a:prstGeom prst="rect">
            <a:avLst/>
          </a:prstGeom>
        </p:spPr>
        <p:txBody>
          <a:bodyPr anchor="t" rtlCol="false" tIns="0" lIns="0" bIns="0" rIns="0">
            <a:spAutoFit/>
          </a:bodyPr>
          <a:lstStyle/>
          <a:p>
            <a:pPr algn="l">
              <a:lnSpc>
                <a:spcPts val="6688"/>
              </a:lnSpc>
            </a:pPr>
            <a:r>
              <a:rPr lang="en-US" b="true" sz="2699" spc="24">
                <a:solidFill>
                  <a:srgbClr val="000000"/>
                </a:solidFill>
                <a:latin typeface="TT Rounds Condensed Bold"/>
                <a:ea typeface="TT Rounds Condensed Bold"/>
                <a:cs typeface="TT Rounds Condensed Bold"/>
                <a:sym typeface="TT Rounds Condensed Bold"/>
              </a:rPr>
              <a:t>Animal AI Behavior (FSM-Based): </a:t>
            </a:r>
          </a:p>
        </p:txBody>
      </p:sp>
      <p:sp>
        <p:nvSpPr>
          <p:cNvPr name="TextBox 25" id="25"/>
          <p:cNvSpPr txBox="true"/>
          <p:nvPr/>
        </p:nvSpPr>
        <p:spPr>
          <a:xfrm rot="0">
            <a:off x="3998004" y="3983707"/>
            <a:ext cx="11511601" cy="742996"/>
          </a:xfrm>
          <a:prstGeom prst="rect">
            <a:avLst/>
          </a:prstGeom>
        </p:spPr>
        <p:txBody>
          <a:bodyPr anchor="t" rtlCol="false" tIns="0" lIns="0" bIns="0" rIns="0">
            <a:spAutoFit/>
          </a:bodyPr>
          <a:lstStyle/>
          <a:p>
            <a:pPr algn="l">
              <a:lnSpc>
                <a:spcPts val="6688"/>
              </a:lnSpc>
            </a:pPr>
            <a:r>
              <a:rPr lang="en-US" sz="2699" spc="24">
                <a:solidFill>
                  <a:srgbClr val="000000"/>
                </a:solidFill>
                <a:latin typeface="TT Rounds Condensed"/>
                <a:ea typeface="TT Rounds Condensed"/>
                <a:cs typeface="TT Rounds Condensed"/>
                <a:sym typeface="TT Rounds Condensed"/>
              </a:rPr>
              <a:t>Implements an FSM model with states such as idle, move, react, eat, and sleep. </a:t>
            </a:r>
          </a:p>
        </p:txBody>
      </p:sp>
      <p:sp>
        <p:nvSpPr>
          <p:cNvPr name="TextBox 26" id="26"/>
          <p:cNvSpPr txBox="true"/>
          <p:nvPr/>
        </p:nvSpPr>
        <p:spPr>
          <a:xfrm rot="0">
            <a:off x="3998004" y="4899898"/>
            <a:ext cx="4942865" cy="230438"/>
          </a:xfrm>
          <a:prstGeom prst="rect">
            <a:avLst/>
          </a:prstGeom>
        </p:spPr>
        <p:txBody>
          <a:bodyPr anchor="t" rtlCol="false" tIns="0" lIns="0" bIns="0" rIns="0">
            <a:spAutoFit/>
          </a:bodyPr>
          <a:lstStyle/>
          <a:p>
            <a:pPr algn="l">
              <a:lnSpc>
                <a:spcPts val="1349"/>
              </a:lnSpc>
            </a:pPr>
            <a:r>
              <a:rPr lang="en-US" sz="2699" spc="24">
                <a:solidFill>
                  <a:srgbClr val="000000"/>
                </a:solidFill>
                <a:latin typeface="TT Rounds Condensed"/>
                <a:ea typeface="TT Rounds Condensed"/>
                <a:cs typeface="TT Rounds Condensed"/>
                <a:sym typeface="TT Rounds Condensed"/>
              </a:rPr>
              <a:t>Uses NavMesh AI for pathfinding. </a:t>
            </a:r>
          </a:p>
        </p:txBody>
      </p:sp>
      <p:sp>
        <p:nvSpPr>
          <p:cNvPr name="TextBox 27" id="27"/>
          <p:cNvSpPr txBox="true"/>
          <p:nvPr/>
        </p:nvSpPr>
        <p:spPr>
          <a:xfrm rot="0">
            <a:off x="2778395" y="5242722"/>
            <a:ext cx="3567046" cy="744741"/>
          </a:xfrm>
          <a:prstGeom prst="rect">
            <a:avLst/>
          </a:prstGeom>
        </p:spPr>
        <p:txBody>
          <a:bodyPr anchor="t" rtlCol="false" tIns="0" lIns="0" bIns="0" rIns="0">
            <a:spAutoFit/>
          </a:bodyPr>
          <a:lstStyle/>
          <a:p>
            <a:pPr algn="l">
              <a:lnSpc>
                <a:spcPts val="6688"/>
              </a:lnSpc>
            </a:pPr>
            <a:r>
              <a:rPr lang="en-US" b="true" sz="2699" spc="24">
                <a:solidFill>
                  <a:srgbClr val="000000"/>
                </a:solidFill>
                <a:latin typeface="TT Rounds Condensed Bold"/>
                <a:ea typeface="TT Rounds Condensed Bold"/>
                <a:cs typeface="TT Rounds Condensed Bold"/>
                <a:sym typeface="TT Rounds Condensed Bold"/>
              </a:rPr>
              <a:t>Rendering Optimization:</a:t>
            </a:r>
          </a:p>
        </p:txBody>
      </p:sp>
      <p:sp>
        <p:nvSpPr>
          <p:cNvPr name="TextBox 28" id="28"/>
          <p:cNvSpPr txBox="true"/>
          <p:nvPr/>
        </p:nvSpPr>
        <p:spPr>
          <a:xfrm rot="0">
            <a:off x="3926272" y="6092152"/>
            <a:ext cx="8666788" cy="1243954"/>
          </a:xfrm>
          <a:prstGeom prst="rect">
            <a:avLst/>
          </a:prstGeom>
        </p:spPr>
        <p:txBody>
          <a:bodyPr anchor="t" rtlCol="false" tIns="0" lIns="0" bIns="0" rIns="0">
            <a:spAutoFit/>
          </a:bodyPr>
          <a:lstStyle/>
          <a:p>
            <a:pPr algn="l">
              <a:lnSpc>
                <a:spcPts val="6688"/>
              </a:lnSpc>
            </a:pPr>
            <a:r>
              <a:rPr lang="en-US" sz="2699" spc="24">
                <a:solidFill>
                  <a:srgbClr val="000000"/>
                </a:solidFill>
                <a:latin typeface="TT Rounds Condensed"/>
                <a:ea typeface="TT Rounds Condensed"/>
                <a:cs typeface="TT Rounds Condensed"/>
                <a:sym typeface="TT Rounds Condensed"/>
              </a:rPr>
              <a:t>Implements LOD techniques to reduce rendering overhead. </a:t>
            </a:r>
          </a:p>
          <a:p>
            <a:pPr algn="l">
              <a:lnSpc>
                <a:spcPts val="1349"/>
              </a:lnSpc>
            </a:pPr>
            <a:r>
              <a:rPr lang="en-US" sz="2699" spc="24">
                <a:solidFill>
                  <a:srgbClr val="000000"/>
                </a:solidFill>
                <a:latin typeface="TT Rounds Condensed"/>
                <a:ea typeface="TT Rounds Condensed"/>
                <a:cs typeface="TT Rounds Condensed"/>
                <a:sym typeface="TT Rounds Condensed"/>
              </a:rPr>
              <a:t>Uses baked lighting and shader optimization.</a:t>
            </a:r>
          </a:p>
        </p:txBody>
      </p:sp>
      <p:sp>
        <p:nvSpPr>
          <p:cNvPr name="TextBox 29" id="29"/>
          <p:cNvSpPr txBox="true"/>
          <p:nvPr/>
        </p:nvSpPr>
        <p:spPr>
          <a:xfrm rot="0">
            <a:off x="2778395" y="7351166"/>
            <a:ext cx="4695920" cy="744741"/>
          </a:xfrm>
          <a:prstGeom prst="rect">
            <a:avLst/>
          </a:prstGeom>
        </p:spPr>
        <p:txBody>
          <a:bodyPr anchor="t" rtlCol="false" tIns="0" lIns="0" bIns="0" rIns="0">
            <a:spAutoFit/>
          </a:bodyPr>
          <a:lstStyle/>
          <a:p>
            <a:pPr algn="l">
              <a:lnSpc>
                <a:spcPts val="6688"/>
              </a:lnSpc>
            </a:pPr>
            <a:r>
              <a:rPr lang="en-US" b="true" sz="2699" spc="24">
                <a:solidFill>
                  <a:srgbClr val="000000"/>
                </a:solidFill>
                <a:latin typeface="TT Rounds Condensed Bold"/>
                <a:ea typeface="TT Rounds Condensed Bold"/>
                <a:cs typeface="TT Rounds Condensed Bold"/>
                <a:sym typeface="TT Rounds Condensed Bold"/>
              </a:rPr>
              <a:t>User Experience Enhancements:</a:t>
            </a:r>
          </a:p>
        </p:txBody>
      </p:sp>
      <p:sp>
        <p:nvSpPr>
          <p:cNvPr name="TextBox 30" id="30"/>
          <p:cNvSpPr txBox="true"/>
          <p:nvPr/>
        </p:nvSpPr>
        <p:spPr>
          <a:xfrm rot="0">
            <a:off x="3924729" y="8200606"/>
            <a:ext cx="9234859" cy="1243954"/>
          </a:xfrm>
          <a:prstGeom prst="rect">
            <a:avLst/>
          </a:prstGeom>
        </p:spPr>
        <p:txBody>
          <a:bodyPr anchor="t" rtlCol="false" tIns="0" lIns="0" bIns="0" rIns="0">
            <a:spAutoFit/>
          </a:bodyPr>
          <a:lstStyle/>
          <a:p>
            <a:pPr algn="l">
              <a:lnSpc>
                <a:spcPts val="6688"/>
              </a:lnSpc>
            </a:pPr>
            <a:r>
              <a:rPr lang="en-US" sz="2699" spc="24">
                <a:solidFill>
                  <a:srgbClr val="000000"/>
                </a:solidFill>
                <a:latin typeface="TT Rounds Condensed"/>
                <a:ea typeface="TT Rounds Condensed"/>
                <a:cs typeface="TT Rounds Condensed"/>
                <a:sym typeface="TT Rounds Condensed"/>
              </a:rPr>
              <a:t>Includes voice-over narration for each animal.</a:t>
            </a:r>
          </a:p>
          <a:p>
            <a:pPr algn="l">
              <a:lnSpc>
                <a:spcPts val="1349"/>
              </a:lnSpc>
            </a:pPr>
            <a:r>
              <a:rPr lang="en-US" sz="2699" spc="24">
                <a:solidFill>
                  <a:srgbClr val="000000"/>
                </a:solidFill>
                <a:latin typeface="TT Rounds Condensed"/>
                <a:ea typeface="TT Rounds Condensed"/>
                <a:cs typeface="TT Rounds Condensed"/>
                <a:sym typeface="TT Rounds Condensed"/>
              </a:rPr>
              <a:t>Adds haptic feedback support for a more immersive experience.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grpSp>
        <p:nvGrpSpPr>
          <p:cNvPr name="Group 3" id="3"/>
          <p:cNvGrpSpPr>
            <a:grpSpLocks noChangeAspect="true"/>
          </p:cNvGrpSpPr>
          <p:nvPr/>
        </p:nvGrpSpPr>
        <p:grpSpPr>
          <a:xfrm rot="0">
            <a:off x="0" y="0"/>
            <a:ext cx="18288000" cy="932650"/>
            <a:chOff x="0" y="0"/>
            <a:chExt cx="18288000" cy="932650"/>
          </a:xfrm>
        </p:grpSpPr>
        <p:sp>
          <p:nvSpPr>
            <p:cNvPr name="Freeform 4" id="4"/>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sp>
        <p:nvSpPr>
          <p:cNvPr name="TextBox 5" id="5"/>
          <p:cNvSpPr txBox="true"/>
          <p:nvPr/>
        </p:nvSpPr>
        <p:spPr>
          <a:xfrm rot="0">
            <a:off x="6702200" y="8049"/>
            <a:ext cx="4975574"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IMPLEMENTATION</a:t>
            </a:r>
          </a:p>
        </p:txBody>
      </p:sp>
      <p:sp>
        <p:nvSpPr>
          <p:cNvPr name="TextBox 6" id="6"/>
          <p:cNvSpPr txBox="true"/>
          <p:nvPr/>
        </p:nvSpPr>
        <p:spPr>
          <a:xfrm rot="0">
            <a:off x="3515325" y="1943523"/>
            <a:ext cx="11349323" cy="6835839"/>
          </a:xfrm>
          <a:prstGeom prst="rect">
            <a:avLst/>
          </a:prstGeom>
        </p:spPr>
        <p:txBody>
          <a:bodyPr anchor="t" rtlCol="false" tIns="0" lIns="0" bIns="0" rIns="0">
            <a:spAutoFit/>
          </a:bodyPr>
          <a:lstStyle/>
          <a:p>
            <a:pPr algn="just">
              <a:lnSpc>
                <a:spcPts val="3225"/>
              </a:lnSpc>
            </a:pPr>
            <a:r>
              <a:rPr lang="en-US" sz="2699" spc="24">
                <a:solidFill>
                  <a:srgbClr val="000000"/>
                </a:solidFill>
                <a:latin typeface="TT Rounds Condensed"/>
                <a:ea typeface="TT Rounds Condensed"/>
                <a:cs typeface="TT Rounds Condensed"/>
                <a:sym typeface="TT Rounds Condensed"/>
              </a:rPr>
              <a:t>public class AnimalFSM :  MonoBehaviour  { enum AnimalState  { Idle, Walk, Eat, Sleep, React } AnimalState currentState;  void Start() { currentState = AnimalState.Idle; InvokeRepeating("ChangeState", 5f, 10f); } void ChangeState() { currentState = (AnimalState)Random.Range(0, 5); Debug.Log("Animal is now: " + currentState); }</a:t>
            </a:r>
          </a:p>
          <a:p>
            <a:pPr algn="just">
              <a:lnSpc>
                <a:spcPts val="6748"/>
              </a:lnSpc>
            </a:pPr>
            <a:r>
              <a:rPr lang="en-US" sz="2699" spc="24">
                <a:solidFill>
                  <a:srgbClr val="000000"/>
                </a:solidFill>
                <a:latin typeface="TT Rounds Condensed"/>
                <a:ea typeface="TT Rounds Condensed"/>
                <a:cs typeface="TT Rounds Condensed"/>
                <a:sym typeface="TT Rounds Condensed"/>
              </a:rPr>
              <a:t>void Update() </a:t>
            </a:r>
          </a:p>
          <a:p>
            <a:pPr algn="just">
              <a:lnSpc>
                <a:spcPts val="1349"/>
              </a:lnSpc>
            </a:pPr>
            <a:r>
              <a:rPr lang="en-US" sz="2699" spc="24">
                <a:solidFill>
                  <a:srgbClr val="000000"/>
                </a:solidFill>
                <a:latin typeface="TT Rounds Condensed"/>
                <a:ea typeface="TT Rounds Condensed"/>
                <a:cs typeface="TT Rounds Condensed"/>
                <a:sym typeface="TT Rounds Condensed"/>
              </a:rPr>
              <a:t>{ switch (currentState)</a:t>
            </a:r>
          </a:p>
          <a:p>
            <a:pPr algn="just">
              <a:lnSpc>
                <a:spcPts val="5101"/>
              </a:lnSpc>
            </a:pPr>
            <a:r>
              <a:rPr lang="en-US" sz="2699" spc="24">
                <a:solidFill>
                  <a:srgbClr val="000000"/>
                </a:solidFill>
                <a:latin typeface="TT Rounds Condensed"/>
                <a:ea typeface="TT Rounds Condensed"/>
                <a:cs typeface="TT Rounds Condensed"/>
                <a:sym typeface="TT Rounds Condensed"/>
              </a:rPr>
              <a:t> { case AnimalState.Walk: transform.Translate(Vector3.forward *</a:t>
            </a:r>
          </a:p>
          <a:p>
            <a:pPr algn="just">
              <a:lnSpc>
                <a:spcPts val="1349"/>
              </a:lnSpc>
            </a:pPr>
            <a:r>
              <a:rPr lang="en-US" sz="2699" spc="24">
                <a:solidFill>
                  <a:srgbClr val="000000"/>
                </a:solidFill>
                <a:latin typeface="TT Rounds Condensed"/>
                <a:ea typeface="TT Rounds Condensed"/>
                <a:cs typeface="TT Rounds Condensed"/>
                <a:sym typeface="TT Rounds Condensed"/>
              </a:rPr>
              <a:t>Time.deltaTime); </a:t>
            </a:r>
          </a:p>
          <a:p>
            <a:pPr algn="just">
              <a:lnSpc>
                <a:spcPts val="5101"/>
              </a:lnSpc>
            </a:pPr>
            <a:r>
              <a:rPr lang="en-US" sz="2699" spc="24">
                <a:solidFill>
                  <a:srgbClr val="000000"/>
                </a:solidFill>
                <a:latin typeface="TT Rounds Condensed"/>
                <a:ea typeface="TT Rounds Condensed"/>
                <a:cs typeface="TT Rounds Condensed"/>
                <a:sym typeface="TT Rounds Condensed"/>
              </a:rPr>
              <a:t>break;</a:t>
            </a:r>
          </a:p>
          <a:p>
            <a:pPr algn="just">
              <a:lnSpc>
                <a:spcPts val="1349"/>
              </a:lnSpc>
            </a:pPr>
            <a:r>
              <a:rPr lang="en-US" sz="2699" spc="24">
                <a:solidFill>
                  <a:srgbClr val="000000"/>
                </a:solidFill>
                <a:latin typeface="TT Rounds Condensed"/>
                <a:ea typeface="TT Rounds Condensed"/>
                <a:cs typeface="TT Rounds Condensed"/>
                <a:sym typeface="TT Rounds Condensed"/>
              </a:rPr>
              <a:t> case AnimalState.React: </a:t>
            </a:r>
          </a:p>
          <a:p>
            <a:pPr algn="just">
              <a:lnSpc>
                <a:spcPts val="5101"/>
              </a:lnSpc>
            </a:pPr>
            <a:r>
              <a:rPr lang="en-US" sz="2699" spc="24">
                <a:solidFill>
                  <a:srgbClr val="000000"/>
                </a:solidFill>
                <a:latin typeface="TT Rounds Condensed"/>
                <a:ea typeface="TT Rounds Condensed"/>
                <a:cs typeface="TT Rounds Condensed"/>
                <a:sym typeface="TT Rounds Condensed"/>
              </a:rPr>
              <a:t>Debug.Log("Animal is reacting to user!");</a:t>
            </a:r>
          </a:p>
          <a:p>
            <a:pPr algn="just">
              <a:lnSpc>
                <a:spcPts val="1349"/>
              </a:lnSpc>
            </a:pPr>
            <a:r>
              <a:rPr lang="en-US" sz="2699" spc="24">
                <a:solidFill>
                  <a:srgbClr val="000000"/>
                </a:solidFill>
                <a:latin typeface="TT Rounds Condensed"/>
                <a:ea typeface="TT Rounds Condensed"/>
                <a:cs typeface="TT Rounds Condensed"/>
                <a:sym typeface="TT Rounds Condensed"/>
              </a:rPr>
              <a:t> break;</a:t>
            </a:r>
          </a:p>
          <a:p>
            <a:pPr algn="just">
              <a:lnSpc>
                <a:spcPts val="5101"/>
              </a:lnSpc>
            </a:pPr>
            <a:r>
              <a:rPr lang="en-US" sz="2699" spc="24">
                <a:solidFill>
                  <a:srgbClr val="000000"/>
                </a:solidFill>
                <a:latin typeface="TT Rounds Condensed"/>
                <a:ea typeface="TT Rounds Condensed"/>
                <a:cs typeface="TT Rounds Condensed"/>
                <a:sym typeface="TT Rounds Condensed"/>
              </a:rPr>
              <a:t> }</a:t>
            </a:r>
          </a:p>
          <a:p>
            <a:pPr algn="just">
              <a:lnSpc>
                <a:spcPts val="1349"/>
              </a:lnSpc>
            </a:pPr>
            <a:r>
              <a:rPr lang="en-US" sz="2699" spc="24">
                <a:solidFill>
                  <a:srgbClr val="000000"/>
                </a:solidFill>
                <a:latin typeface="TT Rounds Condensed"/>
                <a:ea typeface="TT Rounds Condensed"/>
                <a:cs typeface="TT Rounds Condensed"/>
                <a:sym typeface="TT Rounds Condensed"/>
              </a:rPr>
              <a:t> }</a:t>
            </a:r>
          </a:p>
          <a:p>
            <a:pPr algn="just">
              <a:lnSpc>
                <a:spcPts val="5101"/>
              </a:lnSpc>
            </a:pPr>
            <a:r>
              <a:rPr lang="en-US" sz="2699" spc="24">
                <a:solidFill>
                  <a:srgbClr val="000000"/>
                </a:solidFill>
                <a:latin typeface="TT Rounds Condensed"/>
                <a:ea typeface="TT Rounds Condensed"/>
                <a:cs typeface="TT Rounds Condensed"/>
                <a:sym typeface="TT Rounds Condensed"/>
              </a:rPr>
              <a: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36622"/>
          </a:xfrm>
          <a:custGeom>
            <a:avLst/>
            <a:gdLst/>
            <a:ahLst/>
            <a:cxnLst/>
            <a:rect r="r" b="b" t="t" l="l"/>
            <a:pathLst>
              <a:path h="936622" w="18288000">
                <a:moveTo>
                  <a:pt x="0" y="0"/>
                </a:moveTo>
                <a:lnTo>
                  <a:pt x="18288000" y="0"/>
                </a:lnTo>
                <a:lnTo>
                  <a:pt x="18288000" y="936622"/>
                </a:lnTo>
                <a:lnTo>
                  <a:pt x="0" y="936622"/>
                </a:lnTo>
                <a:lnTo>
                  <a:pt x="0" y="0"/>
                </a:lnTo>
                <a:close/>
              </a:path>
            </a:pathLst>
          </a:custGeom>
          <a:blipFill>
            <a:blip r:embed="rId2"/>
            <a:stretch>
              <a:fillRect l="-360" t="-6780" r="-368" b="0"/>
            </a:stretch>
          </a:blipFill>
        </p:spPr>
      </p:sp>
      <p:sp>
        <p:nvSpPr>
          <p:cNvPr name="Freeform 3" id="3"/>
          <p:cNvSpPr/>
          <p:nvPr/>
        </p:nvSpPr>
        <p:spPr>
          <a:xfrm flipH="false" flipV="false" rot="0">
            <a:off x="2554824" y="1291904"/>
            <a:ext cx="6666519" cy="3747040"/>
          </a:xfrm>
          <a:custGeom>
            <a:avLst/>
            <a:gdLst/>
            <a:ahLst/>
            <a:cxnLst/>
            <a:rect r="r" b="b" t="t" l="l"/>
            <a:pathLst>
              <a:path h="3747040" w="6666519">
                <a:moveTo>
                  <a:pt x="0" y="0"/>
                </a:moveTo>
                <a:lnTo>
                  <a:pt x="6666519" y="0"/>
                </a:lnTo>
                <a:lnTo>
                  <a:pt x="6666519" y="3747040"/>
                </a:lnTo>
                <a:lnTo>
                  <a:pt x="0" y="3747040"/>
                </a:lnTo>
                <a:lnTo>
                  <a:pt x="0" y="0"/>
                </a:lnTo>
                <a:close/>
              </a:path>
            </a:pathLst>
          </a:custGeom>
          <a:blipFill>
            <a:blip r:embed="rId3"/>
            <a:stretch>
              <a:fillRect l="0" t="0" r="0" b="0"/>
            </a:stretch>
          </a:blipFill>
        </p:spPr>
      </p:sp>
      <p:sp>
        <p:nvSpPr>
          <p:cNvPr name="Freeform 4" id="4"/>
          <p:cNvSpPr/>
          <p:nvPr/>
        </p:nvSpPr>
        <p:spPr>
          <a:xfrm flipH="false" flipV="false" rot="0">
            <a:off x="9222057" y="1379715"/>
            <a:ext cx="6505604" cy="3666582"/>
          </a:xfrm>
          <a:custGeom>
            <a:avLst/>
            <a:gdLst/>
            <a:ahLst/>
            <a:cxnLst/>
            <a:rect r="r" b="b" t="t" l="l"/>
            <a:pathLst>
              <a:path h="3666582" w="6505604">
                <a:moveTo>
                  <a:pt x="0" y="0"/>
                </a:moveTo>
                <a:lnTo>
                  <a:pt x="6505604" y="0"/>
                </a:lnTo>
                <a:lnTo>
                  <a:pt x="6505604" y="3666582"/>
                </a:lnTo>
                <a:lnTo>
                  <a:pt x="0" y="3666582"/>
                </a:lnTo>
                <a:lnTo>
                  <a:pt x="0" y="0"/>
                </a:lnTo>
                <a:close/>
              </a:path>
            </a:pathLst>
          </a:custGeom>
          <a:blipFill>
            <a:blip r:embed="rId4"/>
            <a:stretch>
              <a:fillRect l="0" t="0" r="0" b="0"/>
            </a:stretch>
          </a:blipFill>
        </p:spPr>
      </p:sp>
      <p:sp>
        <p:nvSpPr>
          <p:cNvPr name="Freeform 5" id="5"/>
          <p:cNvSpPr/>
          <p:nvPr/>
        </p:nvSpPr>
        <p:spPr>
          <a:xfrm flipH="false" flipV="false" rot="0">
            <a:off x="2554824" y="5042221"/>
            <a:ext cx="6666519" cy="4218299"/>
          </a:xfrm>
          <a:custGeom>
            <a:avLst/>
            <a:gdLst/>
            <a:ahLst/>
            <a:cxnLst/>
            <a:rect r="r" b="b" t="t" l="l"/>
            <a:pathLst>
              <a:path h="4218299" w="6666519">
                <a:moveTo>
                  <a:pt x="0" y="0"/>
                </a:moveTo>
                <a:lnTo>
                  <a:pt x="6666519" y="0"/>
                </a:lnTo>
                <a:lnTo>
                  <a:pt x="6666519" y="4218298"/>
                </a:lnTo>
                <a:lnTo>
                  <a:pt x="0" y="4218298"/>
                </a:lnTo>
                <a:lnTo>
                  <a:pt x="0" y="0"/>
                </a:lnTo>
                <a:close/>
              </a:path>
            </a:pathLst>
          </a:custGeom>
          <a:blipFill>
            <a:blip r:embed="rId5"/>
            <a:stretch>
              <a:fillRect l="0" t="0" r="-12413" b="0"/>
            </a:stretch>
          </a:blipFill>
        </p:spPr>
      </p:sp>
      <p:sp>
        <p:nvSpPr>
          <p:cNvPr name="Freeform 6" id="6"/>
          <p:cNvSpPr/>
          <p:nvPr/>
        </p:nvSpPr>
        <p:spPr>
          <a:xfrm flipH="false" flipV="false" rot="0">
            <a:off x="9222057" y="5249113"/>
            <a:ext cx="6505604" cy="4011406"/>
          </a:xfrm>
          <a:custGeom>
            <a:avLst/>
            <a:gdLst/>
            <a:ahLst/>
            <a:cxnLst/>
            <a:rect r="r" b="b" t="t" l="l"/>
            <a:pathLst>
              <a:path h="4011406" w="6505604">
                <a:moveTo>
                  <a:pt x="0" y="0"/>
                </a:moveTo>
                <a:lnTo>
                  <a:pt x="6505604" y="0"/>
                </a:lnTo>
                <a:lnTo>
                  <a:pt x="6505604" y="4011406"/>
                </a:lnTo>
                <a:lnTo>
                  <a:pt x="0" y="4011406"/>
                </a:lnTo>
                <a:lnTo>
                  <a:pt x="0" y="0"/>
                </a:lnTo>
                <a:close/>
              </a:path>
            </a:pathLst>
          </a:custGeom>
          <a:blipFill>
            <a:blip r:embed="rId6"/>
            <a:stretch>
              <a:fillRect l="-949" t="0" r="-8590" b="0"/>
            </a:stretch>
          </a:blipFill>
        </p:spPr>
      </p:sp>
      <p:grpSp>
        <p:nvGrpSpPr>
          <p:cNvPr name="Group 7" id="7"/>
          <p:cNvGrpSpPr>
            <a:grpSpLocks noChangeAspect="true"/>
          </p:cNvGrpSpPr>
          <p:nvPr/>
        </p:nvGrpSpPr>
        <p:grpSpPr>
          <a:xfrm rot="0">
            <a:off x="0" y="0"/>
            <a:ext cx="18288000" cy="932650"/>
            <a:chOff x="0" y="0"/>
            <a:chExt cx="18288000" cy="932650"/>
          </a:xfrm>
        </p:grpSpPr>
        <p:sp>
          <p:nvSpPr>
            <p:cNvPr name="Freeform 8" id="8"/>
            <p:cNvSpPr/>
            <p:nvPr/>
          </p:nvSpPr>
          <p:spPr>
            <a:xfrm flipH="false" flipV="false" rot="0">
              <a:off x="0" y="0"/>
              <a:ext cx="18288000" cy="932688"/>
            </a:xfrm>
            <a:custGeom>
              <a:avLst/>
              <a:gdLst/>
              <a:ahLst/>
              <a:cxnLst/>
              <a:rect r="r" b="b" t="t" l="l"/>
              <a:pathLst>
                <a:path h="932688" w="18288000">
                  <a:moveTo>
                    <a:pt x="0" y="0"/>
                  </a:moveTo>
                  <a:lnTo>
                    <a:pt x="0" y="932688"/>
                  </a:lnTo>
                  <a:lnTo>
                    <a:pt x="18288000" y="932688"/>
                  </a:lnTo>
                  <a:lnTo>
                    <a:pt x="18288000" y="0"/>
                  </a:lnTo>
                  <a:close/>
                </a:path>
              </a:pathLst>
            </a:custGeom>
            <a:solidFill>
              <a:srgbClr val="C00000">
                <a:alpha val="0"/>
              </a:srgbClr>
            </a:solidFill>
          </p:spPr>
        </p:sp>
      </p:grpSp>
      <p:grpSp>
        <p:nvGrpSpPr>
          <p:cNvPr name="Group 9" id="9"/>
          <p:cNvGrpSpPr>
            <a:grpSpLocks noChangeAspect="true"/>
          </p:cNvGrpSpPr>
          <p:nvPr/>
        </p:nvGrpSpPr>
        <p:grpSpPr>
          <a:xfrm rot="0">
            <a:off x="2491330" y="1228411"/>
            <a:ext cx="13305349" cy="8093393"/>
            <a:chOff x="0" y="0"/>
            <a:chExt cx="13305346" cy="8093392"/>
          </a:xfrm>
        </p:grpSpPr>
        <p:sp>
          <p:nvSpPr>
            <p:cNvPr name="Freeform 10" id="10"/>
            <p:cNvSpPr/>
            <p:nvPr/>
          </p:nvSpPr>
          <p:spPr>
            <a:xfrm flipH="false" flipV="false" rot="0">
              <a:off x="63500" y="63500"/>
              <a:ext cx="6667246" cy="3750310"/>
            </a:xfrm>
            <a:custGeom>
              <a:avLst/>
              <a:gdLst/>
              <a:ahLst/>
              <a:cxnLst/>
              <a:rect r="r" b="b" t="t" l="l"/>
              <a:pathLst>
                <a:path h="3750310" w="6667246">
                  <a:moveTo>
                    <a:pt x="0" y="3750310"/>
                  </a:moveTo>
                  <a:lnTo>
                    <a:pt x="6667246" y="3750310"/>
                  </a:lnTo>
                  <a:lnTo>
                    <a:pt x="6667246" y="0"/>
                  </a:lnTo>
                  <a:lnTo>
                    <a:pt x="0" y="0"/>
                  </a:lnTo>
                  <a:close/>
                </a:path>
              </a:pathLst>
            </a:custGeom>
            <a:solidFill>
              <a:srgbClr val="C00000">
                <a:alpha val="0"/>
              </a:srgbClr>
            </a:solidFill>
          </p:spPr>
        </p:sp>
        <p:sp>
          <p:nvSpPr>
            <p:cNvPr name="Freeform 11" id="11"/>
            <p:cNvSpPr/>
            <p:nvPr/>
          </p:nvSpPr>
          <p:spPr>
            <a:xfrm flipH="false" flipV="false" rot="0">
              <a:off x="63500" y="3813810"/>
              <a:ext cx="6667246" cy="4216019"/>
            </a:xfrm>
            <a:custGeom>
              <a:avLst/>
              <a:gdLst/>
              <a:ahLst/>
              <a:cxnLst/>
              <a:rect r="r" b="b" t="t" l="l"/>
              <a:pathLst>
                <a:path h="4216019" w="6667246">
                  <a:moveTo>
                    <a:pt x="0" y="4216019"/>
                  </a:moveTo>
                  <a:lnTo>
                    <a:pt x="6667246" y="4216019"/>
                  </a:lnTo>
                  <a:lnTo>
                    <a:pt x="6667246" y="0"/>
                  </a:lnTo>
                  <a:lnTo>
                    <a:pt x="0" y="0"/>
                  </a:lnTo>
                  <a:close/>
                </a:path>
              </a:pathLst>
            </a:custGeom>
            <a:solidFill>
              <a:srgbClr val="C00000">
                <a:alpha val="0"/>
              </a:srgbClr>
            </a:solidFill>
          </p:spPr>
        </p:sp>
        <p:sp>
          <p:nvSpPr>
            <p:cNvPr name="Freeform 12" id="12"/>
            <p:cNvSpPr/>
            <p:nvPr/>
          </p:nvSpPr>
          <p:spPr>
            <a:xfrm flipH="false" flipV="false" rot="0">
              <a:off x="6730746" y="151257"/>
              <a:ext cx="6511162" cy="3662553"/>
            </a:xfrm>
            <a:custGeom>
              <a:avLst/>
              <a:gdLst/>
              <a:ahLst/>
              <a:cxnLst/>
              <a:rect r="r" b="b" t="t" l="l"/>
              <a:pathLst>
                <a:path h="3662553" w="6511162">
                  <a:moveTo>
                    <a:pt x="0" y="3662553"/>
                  </a:moveTo>
                  <a:lnTo>
                    <a:pt x="6511162" y="3662553"/>
                  </a:lnTo>
                  <a:lnTo>
                    <a:pt x="6511162" y="0"/>
                  </a:lnTo>
                  <a:lnTo>
                    <a:pt x="0" y="0"/>
                  </a:lnTo>
                  <a:close/>
                </a:path>
              </a:pathLst>
            </a:custGeom>
            <a:solidFill>
              <a:srgbClr val="C00000">
                <a:alpha val="0"/>
              </a:srgbClr>
            </a:solidFill>
          </p:spPr>
        </p:sp>
        <p:sp>
          <p:nvSpPr>
            <p:cNvPr name="Freeform 13" id="13"/>
            <p:cNvSpPr/>
            <p:nvPr/>
          </p:nvSpPr>
          <p:spPr>
            <a:xfrm flipH="false" flipV="false" rot="0">
              <a:off x="6730746" y="4020693"/>
              <a:ext cx="6511162" cy="4009136"/>
            </a:xfrm>
            <a:custGeom>
              <a:avLst/>
              <a:gdLst/>
              <a:ahLst/>
              <a:cxnLst/>
              <a:rect r="r" b="b" t="t" l="l"/>
              <a:pathLst>
                <a:path h="4009136" w="6511162">
                  <a:moveTo>
                    <a:pt x="0" y="4009136"/>
                  </a:moveTo>
                  <a:lnTo>
                    <a:pt x="6511162" y="4009136"/>
                  </a:lnTo>
                  <a:lnTo>
                    <a:pt x="6511162" y="0"/>
                  </a:lnTo>
                  <a:lnTo>
                    <a:pt x="0" y="0"/>
                  </a:lnTo>
                  <a:close/>
                </a:path>
              </a:pathLst>
            </a:custGeom>
            <a:solidFill>
              <a:srgbClr val="C00000">
                <a:alpha val="0"/>
              </a:srgbClr>
            </a:solidFill>
          </p:spPr>
        </p:sp>
      </p:grpSp>
      <p:sp>
        <p:nvSpPr>
          <p:cNvPr name="TextBox 14" id="14"/>
          <p:cNvSpPr txBox="true"/>
          <p:nvPr/>
        </p:nvSpPr>
        <p:spPr>
          <a:xfrm rot="0">
            <a:off x="7196614" y="8049"/>
            <a:ext cx="3967029" cy="826770"/>
          </a:xfrm>
          <a:prstGeom prst="rect">
            <a:avLst/>
          </a:prstGeom>
        </p:spPr>
        <p:txBody>
          <a:bodyPr anchor="t" rtlCol="false" tIns="0" lIns="0" bIns="0" rIns="0">
            <a:spAutoFit/>
          </a:bodyPr>
          <a:lstStyle/>
          <a:p>
            <a:pPr algn="l">
              <a:lnSpc>
                <a:spcPts val="6719"/>
              </a:lnSpc>
            </a:pPr>
            <a:r>
              <a:rPr lang="en-US" b="true" sz="4800" spc="43">
                <a:solidFill>
                  <a:srgbClr val="FFFFFF"/>
                </a:solidFill>
                <a:latin typeface="TT Rounds Condensed Bold"/>
                <a:ea typeface="TT Rounds Condensed Bold"/>
                <a:cs typeface="TT Rounds Condensed Bold"/>
                <a:sym typeface="TT Rounds Condensed Bold"/>
              </a:rPr>
              <a:t>SCREENSHOTS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252337"/>
            <a:chOff x="0" y="0"/>
            <a:chExt cx="4816593" cy="329834"/>
          </a:xfrm>
        </p:grpSpPr>
        <p:sp>
          <p:nvSpPr>
            <p:cNvPr name="Freeform 3" id="3"/>
            <p:cNvSpPr/>
            <p:nvPr/>
          </p:nvSpPr>
          <p:spPr>
            <a:xfrm flipH="false" flipV="false" rot="0">
              <a:off x="0" y="0"/>
              <a:ext cx="4816592" cy="329834"/>
            </a:xfrm>
            <a:custGeom>
              <a:avLst/>
              <a:gdLst/>
              <a:ahLst/>
              <a:cxnLst/>
              <a:rect r="r" b="b" t="t" l="l"/>
              <a:pathLst>
                <a:path h="329834" w="4816592">
                  <a:moveTo>
                    <a:pt x="0" y="0"/>
                  </a:moveTo>
                  <a:lnTo>
                    <a:pt x="4816592" y="0"/>
                  </a:lnTo>
                  <a:lnTo>
                    <a:pt x="4816592" y="329834"/>
                  </a:lnTo>
                  <a:lnTo>
                    <a:pt x="0" y="329834"/>
                  </a:lnTo>
                  <a:close/>
                </a:path>
              </a:pathLst>
            </a:custGeom>
            <a:solidFill>
              <a:srgbClr val="C00000"/>
            </a:solidFill>
          </p:spPr>
        </p:sp>
        <p:sp>
          <p:nvSpPr>
            <p:cNvPr name="TextBox 4" id="4"/>
            <p:cNvSpPr txBox="true"/>
            <p:nvPr/>
          </p:nvSpPr>
          <p:spPr>
            <a:xfrm>
              <a:off x="0" y="-190500"/>
              <a:ext cx="4816593" cy="520334"/>
            </a:xfrm>
            <a:prstGeom prst="rect">
              <a:avLst/>
            </a:prstGeom>
          </p:spPr>
          <p:txBody>
            <a:bodyPr anchor="ctr" rtlCol="false" tIns="50800" lIns="50800" bIns="50800" rIns="50800"/>
            <a:lstStyle/>
            <a:p>
              <a:pPr algn="l" marL="0" indent="0" lvl="0">
                <a:lnSpc>
                  <a:spcPts val="6719"/>
                </a:lnSpc>
                <a:spcBef>
                  <a:spcPct val="0"/>
                </a:spcBef>
              </a:pPr>
              <a:r>
                <a:rPr lang="en-US" b="true" sz="4800">
                  <a:solidFill>
                    <a:srgbClr val="FFFFFF"/>
                  </a:solidFill>
                  <a:latin typeface="Arial Bold"/>
                  <a:ea typeface="Arial Bold"/>
                  <a:cs typeface="Arial Bold"/>
                  <a:sym typeface="Arial Bold"/>
                </a:rPr>
                <a:t>       </a:t>
              </a:r>
              <a:r>
                <a:rPr lang="en-US" b="true" sz="4800" strike="noStrike" u="none">
                  <a:solidFill>
                    <a:srgbClr val="FFFFFF"/>
                  </a:solidFill>
                  <a:latin typeface="Arial Bold"/>
                  <a:ea typeface="Arial Bold"/>
                  <a:cs typeface="Arial Bold"/>
                  <a:sym typeface="Arial Bold"/>
                </a:rPr>
                <a:t>Details of Technical Paper Presentation / Publication</a:t>
              </a:r>
            </a:p>
          </p:txBody>
        </p:sp>
      </p:grpSp>
      <p:sp>
        <p:nvSpPr>
          <p:cNvPr name="Freeform 5" id="5"/>
          <p:cNvSpPr/>
          <p:nvPr/>
        </p:nvSpPr>
        <p:spPr>
          <a:xfrm flipH="false" flipV="false" rot="0">
            <a:off x="2802497" y="3223278"/>
            <a:ext cx="12683007" cy="6569202"/>
          </a:xfrm>
          <a:custGeom>
            <a:avLst/>
            <a:gdLst/>
            <a:ahLst/>
            <a:cxnLst/>
            <a:rect r="r" b="b" t="t" l="l"/>
            <a:pathLst>
              <a:path h="6569202" w="12683007">
                <a:moveTo>
                  <a:pt x="0" y="0"/>
                </a:moveTo>
                <a:lnTo>
                  <a:pt x="12683006" y="0"/>
                </a:lnTo>
                <a:lnTo>
                  <a:pt x="12683006" y="6569202"/>
                </a:lnTo>
                <a:lnTo>
                  <a:pt x="0" y="6569202"/>
                </a:lnTo>
                <a:lnTo>
                  <a:pt x="0" y="0"/>
                </a:lnTo>
                <a:close/>
              </a:path>
            </a:pathLst>
          </a:custGeom>
          <a:blipFill>
            <a:blip r:embed="rId2"/>
            <a:stretch>
              <a:fillRect l="0" t="-8600" r="0" b="0"/>
            </a:stretch>
          </a:blipFill>
        </p:spPr>
      </p:sp>
      <p:sp>
        <p:nvSpPr>
          <p:cNvPr name="TextBox 6" id="6"/>
          <p:cNvSpPr txBox="true"/>
          <p:nvPr/>
        </p:nvSpPr>
        <p:spPr>
          <a:xfrm rot="0">
            <a:off x="2099128" y="1500563"/>
            <a:ext cx="14089744" cy="1417339"/>
          </a:xfrm>
          <a:prstGeom prst="rect">
            <a:avLst/>
          </a:prstGeom>
        </p:spPr>
        <p:txBody>
          <a:bodyPr anchor="t" rtlCol="false" tIns="0" lIns="0" bIns="0" rIns="0">
            <a:spAutoFit/>
          </a:bodyPr>
          <a:lstStyle/>
          <a:p>
            <a:pPr algn="l">
              <a:lnSpc>
                <a:spcPts val="3778"/>
              </a:lnSpc>
              <a:spcBef>
                <a:spcPct val="0"/>
              </a:spcBef>
            </a:pPr>
            <a:r>
              <a:rPr lang="en-US" sz="2699" spc="24">
                <a:solidFill>
                  <a:srgbClr val="000000"/>
                </a:solidFill>
                <a:latin typeface="TT Rounds Condensed"/>
                <a:ea typeface="TT Rounds Condensed"/>
                <a:cs typeface="TT Rounds Condensed"/>
                <a:sym typeface="TT Rounds Condensed"/>
              </a:rPr>
              <a:t>This paper titled Virtual Zoo </a:t>
            </a:r>
            <a:r>
              <a:rPr lang="en-US" sz="2699" spc="24">
                <a:solidFill>
                  <a:srgbClr val="000000"/>
                </a:solidFill>
                <a:latin typeface="TT Rounds Condensed"/>
                <a:ea typeface="TT Rounds Condensed"/>
                <a:cs typeface="TT Rounds Condensed"/>
                <a:sym typeface="TT Rounds Condensed"/>
              </a:rPr>
              <a:t>using Virtual Zoo is communicated to 3rd International Conference on Networks, Multimedia, and Information Technology (NMITCON-2025) : Submission (1447) has been created.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869947"/>
          </a:xfrm>
          <a:custGeom>
            <a:avLst/>
            <a:gdLst/>
            <a:ahLst/>
            <a:cxnLst/>
            <a:rect r="r" b="b" t="t" l="l"/>
            <a:pathLst>
              <a:path h="869947" w="18288000">
                <a:moveTo>
                  <a:pt x="0" y="0"/>
                </a:moveTo>
                <a:lnTo>
                  <a:pt x="18288000" y="0"/>
                </a:lnTo>
                <a:lnTo>
                  <a:pt x="18288000" y="869947"/>
                </a:lnTo>
                <a:lnTo>
                  <a:pt x="0" y="869947"/>
                </a:lnTo>
                <a:lnTo>
                  <a:pt x="0" y="0"/>
                </a:lnTo>
                <a:close/>
              </a:path>
            </a:pathLst>
          </a:custGeom>
          <a:blipFill>
            <a:blip r:embed="rId2"/>
            <a:stretch>
              <a:fillRect l="-373" t="-7299" r="-355" b="0"/>
            </a:stretch>
          </a:blipFill>
        </p:spPr>
      </p:sp>
      <p:grpSp>
        <p:nvGrpSpPr>
          <p:cNvPr name="Group 3" id="3"/>
          <p:cNvGrpSpPr>
            <a:grpSpLocks noChangeAspect="true"/>
          </p:cNvGrpSpPr>
          <p:nvPr/>
        </p:nvGrpSpPr>
        <p:grpSpPr>
          <a:xfrm rot="0">
            <a:off x="0" y="0"/>
            <a:ext cx="18288000" cy="868356"/>
            <a:chOff x="0" y="0"/>
            <a:chExt cx="18288000" cy="868350"/>
          </a:xfrm>
        </p:grpSpPr>
        <p:sp>
          <p:nvSpPr>
            <p:cNvPr name="Freeform 4" id="4"/>
            <p:cNvSpPr/>
            <p:nvPr/>
          </p:nvSpPr>
          <p:spPr>
            <a:xfrm flipH="false" flipV="false" rot="0">
              <a:off x="0" y="0"/>
              <a:ext cx="18288000" cy="868299"/>
            </a:xfrm>
            <a:custGeom>
              <a:avLst/>
              <a:gdLst/>
              <a:ahLst/>
              <a:cxnLst/>
              <a:rect r="r" b="b" t="t" l="l"/>
              <a:pathLst>
                <a:path h="868299" w="18288000">
                  <a:moveTo>
                    <a:pt x="0" y="0"/>
                  </a:moveTo>
                  <a:lnTo>
                    <a:pt x="0" y="868299"/>
                  </a:lnTo>
                  <a:lnTo>
                    <a:pt x="18288000" y="868299"/>
                  </a:lnTo>
                  <a:lnTo>
                    <a:pt x="18288000" y="0"/>
                  </a:lnTo>
                  <a:close/>
                </a:path>
              </a:pathLst>
            </a:custGeom>
            <a:solidFill>
              <a:srgbClr val="C00000">
                <a:alpha val="0"/>
              </a:srgbClr>
            </a:solidFill>
          </p:spPr>
        </p:sp>
      </p:grpSp>
      <p:sp>
        <p:nvSpPr>
          <p:cNvPr name="TextBox 5" id="5"/>
          <p:cNvSpPr txBox="true"/>
          <p:nvPr/>
        </p:nvSpPr>
        <p:spPr>
          <a:xfrm rot="0">
            <a:off x="17069657" y="9544050"/>
            <a:ext cx="216618" cy="312420"/>
          </a:xfrm>
          <a:prstGeom prst="rect">
            <a:avLst/>
          </a:prstGeom>
        </p:spPr>
        <p:txBody>
          <a:bodyPr anchor="t" rtlCol="false" tIns="0" lIns="0" bIns="0" rIns="0">
            <a:spAutoFit/>
          </a:bodyPr>
          <a:lstStyle/>
          <a:p>
            <a:pPr algn="l">
              <a:lnSpc>
                <a:spcPts val="2520"/>
              </a:lnSpc>
            </a:pPr>
            <a:r>
              <a:rPr lang="en-US" sz="1800" spc="16">
                <a:solidFill>
                  <a:srgbClr val="000000"/>
                </a:solidFill>
                <a:latin typeface="TT Rounds Condensed"/>
                <a:ea typeface="TT Rounds Condensed"/>
                <a:cs typeface="TT Rounds Condensed"/>
                <a:sym typeface="TT Rounds Condensed"/>
              </a:rPr>
              <a:t>19</a:t>
            </a:r>
          </a:p>
        </p:txBody>
      </p:sp>
      <p:sp>
        <p:nvSpPr>
          <p:cNvPr name="TextBox 6" id="6"/>
          <p:cNvSpPr txBox="true"/>
          <p:nvPr/>
        </p:nvSpPr>
        <p:spPr>
          <a:xfrm rot="0">
            <a:off x="7598626" y="-128711"/>
            <a:ext cx="3385652" cy="891540"/>
          </a:xfrm>
          <a:prstGeom prst="rect">
            <a:avLst/>
          </a:prstGeom>
        </p:spPr>
        <p:txBody>
          <a:bodyPr anchor="t" rtlCol="false" tIns="0" lIns="0" bIns="0" rIns="0">
            <a:spAutoFit/>
          </a:bodyPr>
          <a:lstStyle/>
          <a:p>
            <a:pPr algn="l">
              <a:lnSpc>
                <a:spcPts val="6719"/>
              </a:lnSpc>
            </a:pPr>
            <a:r>
              <a:rPr lang="en-US" b="true" sz="4800">
                <a:solidFill>
                  <a:srgbClr val="FFFFFF"/>
                </a:solidFill>
                <a:latin typeface="Arial Bold"/>
                <a:ea typeface="Arial Bold"/>
                <a:cs typeface="Arial Bold"/>
                <a:sym typeface="Arial Bold"/>
              </a:rPr>
              <a:t>Conclusion</a:t>
            </a:r>
          </a:p>
        </p:txBody>
      </p:sp>
      <p:sp>
        <p:nvSpPr>
          <p:cNvPr name="TextBox 7" id="7"/>
          <p:cNvSpPr txBox="true"/>
          <p:nvPr/>
        </p:nvSpPr>
        <p:spPr>
          <a:xfrm rot="0">
            <a:off x="2362152" y="2520525"/>
            <a:ext cx="13248808" cy="3916521"/>
          </a:xfrm>
          <a:prstGeom prst="rect">
            <a:avLst/>
          </a:prstGeom>
        </p:spPr>
        <p:txBody>
          <a:bodyPr anchor="t" rtlCol="false" tIns="0" lIns="0" bIns="0" rIns="0">
            <a:spAutoFit/>
          </a:bodyPr>
          <a:lstStyle/>
          <a:p>
            <a:pPr algn="l">
              <a:lnSpc>
                <a:spcPts val="5175"/>
              </a:lnSpc>
            </a:pPr>
            <a:r>
              <a:rPr lang="en-US" sz="3699" spc="33">
                <a:solidFill>
                  <a:srgbClr val="000000"/>
                </a:solidFill>
                <a:latin typeface="TT Rounds Condensed"/>
                <a:ea typeface="TT Rounds Condensed"/>
                <a:cs typeface="TT Rounds Condensed"/>
                <a:sym typeface="TT Rounds Condensed"/>
              </a:rPr>
              <a:t>The "Wildlife Sanctuary in Virtual Reality " project integrates VR and animal behavior simulation, providing an engaging educational tool. Using Unity 3D and Oculus Quest 2, it allows users to explore realistic animal behaviors in a virtual environment. Future improvements could include enhanced behaviors, multiplayer features, and optimization for different VR platforms.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869947"/>
          </a:xfrm>
          <a:custGeom>
            <a:avLst/>
            <a:gdLst/>
            <a:ahLst/>
            <a:cxnLst/>
            <a:rect r="r" b="b" t="t" l="l"/>
            <a:pathLst>
              <a:path h="869947" w="18288000">
                <a:moveTo>
                  <a:pt x="0" y="0"/>
                </a:moveTo>
                <a:lnTo>
                  <a:pt x="18288000" y="0"/>
                </a:lnTo>
                <a:lnTo>
                  <a:pt x="18288000" y="869947"/>
                </a:lnTo>
                <a:lnTo>
                  <a:pt x="0" y="869947"/>
                </a:lnTo>
                <a:lnTo>
                  <a:pt x="0" y="0"/>
                </a:lnTo>
                <a:close/>
              </a:path>
            </a:pathLst>
          </a:custGeom>
          <a:blipFill>
            <a:blip r:embed="rId2"/>
            <a:stretch>
              <a:fillRect l="-360" t="-7299" r="-368" b="0"/>
            </a:stretch>
          </a:blipFill>
        </p:spPr>
      </p:sp>
      <p:grpSp>
        <p:nvGrpSpPr>
          <p:cNvPr name="Group 3" id="3"/>
          <p:cNvGrpSpPr>
            <a:grpSpLocks noChangeAspect="true"/>
          </p:cNvGrpSpPr>
          <p:nvPr/>
        </p:nvGrpSpPr>
        <p:grpSpPr>
          <a:xfrm rot="0">
            <a:off x="0" y="0"/>
            <a:ext cx="18288000" cy="868356"/>
            <a:chOff x="0" y="0"/>
            <a:chExt cx="18288000" cy="868350"/>
          </a:xfrm>
        </p:grpSpPr>
        <p:sp>
          <p:nvSpPr>
            <p:cNvPr name="Freeform 4" id="4"/>
            <p:cNvSpPr/>
            <p:nvPr/>
          </p:nvSpPr>
          <p:spPr>
            <a:xfrm flipH="false" flipV="false" rot="0">
              <a:off x="0" y="0"/>
              <a:ext cx="18288000" cy="868299"/>
            </a:xfrm>
            <a:custGeom>
              <a:avLst/>
              <a:gdLst/>
              <a:ahLst/>
              <a:cxnLst/>
              <a:rect r="r" b="b" t="t" l="l"/>
              <a:pathLst>
                <a:path h="868299" w="18288000">
                  <a:moveTo>
                    <a:pt x="0" y="0"/>
                  </a:moveTo>
                  <a:lnTo>
                    <a:pt x="0" y="868299"/>
                  </a:lnTo>
                  <a:lnTo>
                    <a:pt x="18288000" y="868299"/>
                  </a:lnTo>
                  <a:lnTo>
                    <a:pt x="18288000" y="0"/>
                  </a:lnTo>
                  <a:close/>
                </a:path>
              </a:pathLst>
            </a:custGeom>
            <a:solidFill>
              <a:srgbClr val="C00000">
                <a:alpha val="0"/>
              </a:srgbClr>
            </a:solidFill>
          </p:spPr>
        </p:sp>
      </p:grpSp>
      <p:sp>
        <p:nvSpPr>
          <p:cNvPr name="TextBox 5" id="5"/>
          <p:cNvSpPr txBox="true"/>
          <p:nvPr/>
        </p:nvSpPr>
        <p:spPr>
          <a:xfrm rot="0">
            <a:off x="17034234" y="9544050"/>
            <a:ext cx="252755" cy="312420"/>
          </a:xfrm>
          <a:prstGeom prst="rect">
            <a:avLst/>
          </a:prstGeom>
        </p:spPr>
        <p:txBody>
          <a:bodyPr anchor="t" rtlCol="false" tIns="0" lIns="0" bIns="0" rIns="0">
            <a:spAutoFit/>
          </a:bodyPr>
          <a:lstStyle/>
          <a:p>
            <a:pPr algn="l">
              <a:lnSpc>
                <a:spcPts val="2520"/>
              </a:lnSpc>
            </a:pPr>
            <a:r>
              <a:rPr lang="en-US" sz="1800" spc="16">
                <a:solidFill>
                  <a:srgbClr val="000000"/>
                </a:solidFill>
                <a:latin typeface="TT Rounds Condensed"/>
                <a:ea typeface="TT Rounds Condensed"/>
                <a:cs typeface="TT Rounds Condensed"/>
                <a:sym typeface="TT Rounds Condensed"/>
              </a:rPr>
              <a:t>20</a:t>
            </a:r>
          </a:p>
        </p:txBody>
      </p:sp>
      <p:sp>
        <p:nvSpPr>
          <p:cNvPr name="TextBox 6" id="6"/>
          <p:cNvSpPr txBox="true"/>
          <p:nvPr/>
        </p:nvSpPr>
        <p:spPr>
          <a:xfrm rot="0">
            <a:off x="7736910" y="-153591"/>
            <a:ext cx="3062402" cy="826770"/>
          </a:xfrm>
          <a:prstGeom prst="rect">
            <a:avLst/>
          </a:prstGeom>
        </p:spPr>
        <p:txBody>
          <a:bodyPr anchor="t" rtlCol="false" tIns="0" lIns="0" bIns="0" rIns="0">
            <a:spAutoFit/>
          </a:bodyPr>
          <a:lstStyle/>
          <a:p>
            <a:pPr algn="l">
              <a:lnSpc>
                <a:spcPts val="6719"/>
              </a:lnSpc>
            </a:pPr>
            <a:r>
              <a:rPr lang="en-US" sz="4800" spc="43">
                <a:solidFill>
                  <a:srgbClr val="FFFFFF"/>
                </a:solidFill>
                <a:latin typeface="TT Rounds Condensed"/>
                <a:ea typeface="TT Rounds Condensed"/>
                <a:cs typeface="TT Rounds Condensed"/>
                <a:sym typeface="TT Rounds Condensed"/>
              </a:rPr>
              <a:t>References </a:t>
            </a:r>
          </a:p>
        </p:txBody>
      </p:sp>
      <p:sp>
        <p:nvSpPr>
          <p:cNvPr name="TextBox 7" id="7"/>
          <p:cNvSpPr txBox="true"/>
          <p:nvPr/>
        </p:nvSpPr>
        <p:spPr>
          <a:xfrm rot="0">
            <a:off x="2319204" y="962025"/>
            <a:ext cx="13649592" cy="9133082"/>
          </a:xfrm>
          <a:prstGeom prst="rect">
            <a:avLst/>
          </a:prstGeom>
        </p:spPr>
        <p:txBody>
          <a:bodyPr anchor="t" rtlCol="false" tIns="0" lIns="0" bIns="0" rIns="0">
            <a:spAutoFit/>
          </a:bodyPr>
          <a:lstStyle/>
          <a:p>
            <a:pPr algn="l" marL="753761" indent="-376880" lvl="1">
              <a:lnSpc>
                <a:spcPts val="4800"/>
              </a:lnSpc>
              <a:buFont typeface="Arial"/>
              <a:buChar char="•"/>
            </a:pPr>
            <a:r>
              <a:rPr lang="en-US" sz="3491" spc="31">
                <a:solidFill>
                  <a:srgbClr val="000000"/>
                </a:solidFill>
                <a:latin typeface="TT Rounds Condensed"/>
                <a:ea typeface="TT Rounds Condensed"/>
                <a:cs typeface="TT Rounds Condensed"/>
                <a:sym typeface="TT Rounds Condensed"/>
              </a:rPr>
              <a:t>Wiederhold, B. K., and Rizzo, A. S. (2019), “Virtual Reality and Its Role in Behavioral Medicine,” in American Journal of Lifestyle Medicine, vol. 13, no. </a:t>
            </a:r>
          </a:p>
          <a:p>
            <a:pPr algn="l">
              <a:lnSpc>
                <a:spcPts val="4800"/>
              </a:lnSpc>
            </a:pPr>
          </a:p>
          <a:p>
            <a:pPr algn="l" marL="753761" indent="-376880" lvl="1">
              <a:lnSpc>
                <a:spcPts val="4800"/>
              </a:lnSpc>
              <a:buFont typeface="Arial"/>
              <a:buChar char="•"/>
            </a:pPr>
            <a:r>
              <a:rPr lang="en-US" sz="3491" spc="31">
                <a:solidFill>
                  <a:srgbClr val="000000"/>
                </a:solidFill>
                <a:latin typeface="TT Rounds Condensed"/>
                <a:ea typeface="TT Rounds Condensed"/>
                <a:cs typeface="TT Rounds Condensed"/>
                <a:sym typeface="TT Rounds Condensed"/>
              </a:rPr>
              <a:t>3, pp. 211-221. Rothbaum, B. O., et al. (2014), “Virtual Reality Exposure Therapy for Post-Traumatic Stress Disorder,” in Journal of Clinical </a:t>
            </a:r>
          </a:p>
          <a:p>
            <a:pPr algn="l">
              <a:lnSpc>
                <a:spcPts val="4800"/>
              </a:lnSpc>
            </a:pPr>
          </a:p>
          <a:p>
            <a:pPr algn="l" marL="753761" indent="-376880" lvl="1">
              <a:lnSpc>
                <a:spcPts val="4800"/>
              </a:lnSpc>
              <a:buFont typeface="Arial"/>
              <a:buChar char="•"/>
            </a:pPr>
            <a:r>
              <a:rPr lang="en-US" sz="3491" spc="31">
                <a:solidFill>
                  <a:srgbClr val="000000"/>
                </a:solidFill>
                <a:latin typeface="TT Rounds Condensed"/>
                <a:ea typeface="TT Rounds Condensed"/>
                <a:cs typeface="TT Rounds Condensed"/>
                <a:sym typeface="TT Rounds Condensed"/>
              </a:rPr>
              <a:t>Psychology, vol. 70, no. 9, pp. 944-957. Liu, X., et al. (2020), “Simulation of Animal Behavior in Virtual Reality Environments for Education and Training,” in Journal of Virtual Reality and Broadcasting, vol. 17, no. 6, pp. </a:t>
            </a:r>
          </a:p>
          <a:p>
            <a:pPr algn="l">
              <a:lnSpc>
                <a:spcPts val="4800"/>
              </a:lnSpc>
            </a:pPr>
          </a:p>
          <a:p>
            <a:pPr algn="l" marL="753761" indent="-376880" lvl="1">
              <a:lnSpc>
                <a:spcPts val="4800"/>
              </a:lnSpc>
              <a:buFont typeface="Arial"/>
              <a:buChar char="•"/>
            </a:pPr>
            <a:r>
              <a:rPr lang="en-US" sz="3491" spc="31">
                <a:solidFill>
                  <a:srgbClr val="000000"/>
                </a:solidFill>
                <a:latin typeface="TT Rounds Condensed"/>
                <a:ea typeface="TT Rounds Condensed"/>
                <a:cs typeface="TT Rounds Condensed"/>
                <a:sym typeface="TT Rounds Condensed"/>
              </a:rPr>
              <a:t>35-42. Fletcher, K. D., and Leung, H. L. (2021), “Enhancing Interactivity and Immersion in Virtual Reality-based Educational Applications,” in Computers &amp; Education, vol. 160, pp. 104031.</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308712" y="3846233"/>
            <a:ext cx="5666927" cy="1712338"/>
          </a:xfrm>
          <a:prstGeom prst="rect">
            <a:avLst/>
          </a:prstGeom>
        </p:spPr>
        <p:txBody>
          <a:bodyPr anchor="t" rtlCol="false" tIns="0" lIns="0" bIns="0" rIns="0">
            <a:spAutoFit/>
          </a:bodyPr>
          <a:lstStyle/>
          <a:p>
            <a:pPr algn="l">
              <a:lnSpc>
                <a:spcPts val="13769"/>
              </a:lnSpc>
            </a:pPr>
            <a:r>
              <a:rPr lang="en-US" sz="9835" spc="88">
                <a:solidFill>
                  <a:srgbClr val="000000"/>
                </a:solidFill>
                <a:latin typeface="Bobby Jones Soft"/>
                <a:ea typeface="Bobby Jones Soft"/>
                <a:cs typeface="Bobby Jones Soft"/>
                <a:sym typeface="Bobby Jones Sof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DAGgOefy_sM</dc:identifier>
  <dcterms:modified xsi:type="dcterms:W3CDTF">2011-08-01T06:04:30Z</dcterms:modified>
  <cp:revision>1</cp:revision>
  <dc:title>Team17_Fiinal_Review.pdf</dc:title>
</cp:coreProperties>
</file>